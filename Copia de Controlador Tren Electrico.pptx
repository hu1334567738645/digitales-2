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72" r:id="rId11"/>
    <p:sldId id="273" r:id="rId12"/>
    <p:sldId id="274" r:id="rId13"/>
    <p:sldId id="265" r:id="rId14"/>
    <p:sldId id="266" r:id="rId15"/>
    <p:sldId id="267" r:id="rId16"/>
    <p:sldId id="268" r:id="rId17"/>
    <p:sldId id="269" r:id="rId18"/>
    <p:sldId id="270"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D2EC7EB3-65CA-4E45-84C1-31D0EFBFD334}" type="datetimeFigureOut">
              <a:rPr lang="es-CO" smtClean="0"/>
              <a:t>24/04/26</a:t>
            </a:fld>
            <a:endParaRPr lang="es-CO"/>
          </a:p>
        </p:txBody>
      </p:sp>
      <p:sp>
        <p:nvSpPr>
          <p:cNvPr id="4" name="Marcador de imagen de diapositiva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BB61F499-16FF-5C44-B0AC-302F7DC886E2}" type="slidenum">
              <a:rPr lang="es-CO" smtClean="0"/>
              <a:t>‹Nº›</a:t>
            </a:fld>
            <a:endParaRPr lang="es-CO"/>
          </a:p>
        </p:txBody>
      </p:sp>
    </p:spTree>
    <p:extLst>
      <p:ext uri="{BB962C8B-B14F-4D97-AF65-F5344CB8AC3E}">
        <p14:creationId xmlns:p14="http://schemas.microsoft.com/office/powerpoint/2010/main" val="2251830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50F5E-3483-7F9D-2051-4EDDCAD4C0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58809-E42A-D29D-C1F7-CFB15E1987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A28AB5-FEA4-6AEA-F6AA-208D94A455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673046-C124-474C-2B15-A05D6273C64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989179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156FE-2FE8-EAEB-C460-EBF0AC9B44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2BB16-8490-54E4-8200-B926DE499D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BF4FC1-3C46-3DD0-04EA-01BB55F793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C96497-CA1F-1F14-75BA-6A7026C7FCE7}"/>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22903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CB95F-BBDB-645A-A668-1CEF2543F3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23F91-7CEE-4EC4-92B3-DF853E6B4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1B3CA2-D24B-07E6-B92B-D431396911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A335C0-CED2-BB9D-4705-F0FDEDB3B53E}"/>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143225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891B2"/>
          </a:solidFill>
          <a:ln w="12700">
            <a:solidFill>
              <a:srgbClr val="0891B2"/>
            </a:solidFill>
            <a:prstDash val="solid"/>
          </a:ln>
        </p:spPr>
        <p:txBody>
          <a:bodyPr/>
          <a:lstStyle/>
          <a:p>
            <a:endParaRPr lang="es-CO"/>
          </a:p>
        </p:txBody>
      </p:sp>
      <p:sp>
        <p:nvSpPr>
          <p:cNvPr id="3" name="Shape 1"/>
          <p:cNvSpPr/>
          <p:nvPr/>
        </p:nvSpPr>
        <p:spPr>
          <a:xfrm>
            <a:off x="182880" y="0"/>
            <a:ext cx="8961120" cy="5143500"/>
          </a:xfrm>
          <a:prstGeom prst="rect">
            <a:avLst/>
          </a:prstGeom>
          <a:solidFill>
            <a:srgbClr val="0D1B2A"/>
          </a:solidFill>
          <a:ln w="12700">
            <a:solidFill>
              <a:srgbClr val="0D1B2A"/>
            </a:solidFill>
            <a:prstDash val="solid"/>
          </a:ln>
        </p:spPr>
        <p:txBody>
          <a:bodyPr/>
          <a:lstStyle/>
          <a:p>
            <a:endParaRPr lang="es-CO" dirty="0"/>
          </a:p>
        </p:txBody>
      </p:sp>
      <p:sp>
        <p:nvSpPr>
          <p:cNvPr id="4" name="Shape 2"/>
          <p:cNvSpPr/>
          <p:nvPr/>
        </p:nvSpPr>
        <p:spPr>
          <a:xfrm>
            <a:off x="6858000" y="-457200"/>
            <a:ext cx="3200400" cy="3200400"/>
          </a:xfrm>
          <a:prstGeom prst="ellipse">
            <a:avLst/>
          </a:prstGeom>
          <a:solidFill>
            <a:srgbClr val="1B3A5C"/>
          </a:solidFill>
          <a:ln w="19050">
            <a:solidFill>
              <a:srgbClr val="0891B2"/>
            </a:solidFill>
            <a:prstDash val="solid"/>
          </a:ln>
        </p:spPr>
        <p:txBody>
          <a:bodyPr/>
          <a:lstStyle/>
          <a:p>
            <a:endParaRPr lang="es-CO"/>
          </a:p>
        </p:txBody>
      </p:sp>
      <p:sp>
        <p:nvSpPr>
          <p:cNvPr id="5" name="Shape 3"/>
          <p:cNvSpPr/>
          <p:nvPr/>
        </p:nvSpPr>
        <p:spPr>
          <a:xfrm>
            <a:off x="7498080" y="2926080"/>
            <a:ext cx="1828800" cy="1828800"/>
          </a:xfrm>
          <a:prstGeom prst="ellipse">
            <a:avLst/>
          </a:prstGeom>
          <a:solidFill>
            <a:srgbClr val="162537"/>
          </a:solidFill>
          <a:ln w="12700">
            <a:solidFill>
              <a:srgbClr val="0891B2"/>
            </a:solidFill>
            <a:prstDash val="solid"/>
          </a:ln>
        </p:spPr>
        <p:txBody>
          <a:bodyPr/>
          <a:lstStyle/>
          <a:p>
            <a:endParaRPr lang="es-CO"/>
          </a:p>
        </p:txBody>
      </p:sp>
      <p:sp>
        <p:nvSpPr>
          <p:cNvPr id="6" name="Text 4"/>
          <p:cNvSpPr/>
          <p:nvPr/>
        </p:nvSpPr>
        <p:spPr>
          <a:xfrm>
            <a:off x="457200" y="548640"/>
            <a:ext cx="6400800" cy="457200"/>
          </a:xfrm>
          <a:prstGeom prst="rect">
            <a:avLst/>
          </a:prstGeom>
          <a:noFill/>
          <a:ln/>
        </p:spPr>
        <p:txBody>
          <a:bodyPr wrap="square" rtlCol="0" anchor="ctr"/>
          <a:lstStyle/>
          <a:p>
            <a:pPr marL="0" indent="0">
              <a:buNone/>
            </a:pPr>
            <a:r>
              <a:rPr lang="en-US" sz="1300" b="1" kern="0" spc="600" dirty="0">
                <a:solidFill>
                  <a:srgbClr val="0891B2"/>
                </a:solidFill>
              </a:rPr>
              <a:t>DIGITALES II</a:t>
            </a:r>
            <a:endParaRPr lang="en-US" sz="1300" dirty="0"/>
          </a:p>
        </p:txBody>
      </p:sp>
      <p:sp>
        <p:nvSpPr>
          <p:cNvPr id="7" name="Text 5"/>
          <p:cNvSpPr/>
          <p:nvPr/>
        </p:nvSpPr>
        <p:spPr>
          <a:xfrm>
            <a:off x="457200" y="1143000"/>
            <a:ext cx="7315200" cy="640080"/>
          </a:xfrm>
          <a:prstGeom prst="rect">
            <a:avLst/>
          </a:prstGeom>
          <a:noFill/>
          <a:ln/>
        </p:spPr>
        <p:txBody>
          <a:bodyPr wrap="square" rtlCol="0" anchor="ctr"/>
          <a:lstStyle/>
          <a:p>
            <a:pPr marL="0" indent="0">
              <a:buNone/>
            </a:pPr>
            <a:r>
              <a:rPr lang="en-US" sz="2800" b="1" dirty="0">
                <a:solidFill>
                  <a:srgbClr val="FFFFFF"/>
                </a:solidFill>
              </a:rPr>
              <a:t>Diseño de Máquina de Estados:</a:t>
            </a:r>
            <a:endParaRPr lang="en-US" sz="2800" dirty="0"/>
          </a:p>
        </p:txBody>
      </p:sp>
      <p:sp>
        <p:nvSpPr>
          <p:cNvPr id="8" name="Text 6"/>
          <p:cNvSpPr/>
          <p:nvPr/>
        </p:nvSpPr>
        <p:spPr>
          <a:xfrm>
            <a:off x="457200" y="1737360"/>
            <a:ext cx="7315200" cy="1371600"/>
          </a:xfrm>
          <a:prstGeom prst="rect">
            <a:avLst/>
          </a:prstGeom>
          <a:noFill/>
          <a:ln/>
        </p:spPr>
        <p:txBody>
          <a:bodyPr wrap="square" rtlCol="0" anchor="ctr"/>
          <a:lstStyle/>
          <a:p>
            <a:pPr marL="0" indent="0">
              <a:buNone/>
            </a:pPr>
            <a:r>
              <a:rPr lang="en-US" sz="3800" b="1" dirty="0">
                <a:solidFill>
                  <a:srgbClr val="22D3EE"/>
                </a:solidFill>
              </a:rPr>
              <a:t>El Controlador de</a:t>
            </a:r>
            <a:endParaRPr lang="en-US" sz="3800" dirty="0"/>
          </a:p>
          <a:p>
            <a:pPr marL="0" indent="0">
              <a:buNone/>
            </a:pPr>
            <a:r>
              <a:rPr lang="en-US" sz="3800" b="1" dirty="0">
                <a:solidFill>
                  <a:srgbClr val="22D3EE"/>
                </a:solidFill>
              </a:rPr>
              <a:t>Tren Eléctrico</a:t>
            </a:r>
            <a:endParaRPr lang="en-US" sz="3800" dirty="0"/>
          </a:p>
        </p:txBody>
      </p:sp>
      <p:sp>
        <p:nvSpPr>
          <p:cNvPr id="9" name="Shape 7"/>
          <p:cNvSpPr/>
          <p:nvPr/>
        </p:nvSpPr>
        <p:spPr>
          <a:xfrm>
            <a:off x="457200" y="3246120"/>
            <a:ext cx="4114800" cy="36576"/>
          </a:xfrm>
          <a:prstGeom prst="rect">
            <a:avLst/>
          </a:prstGeom>
          <a:solidFill>
            <a:srgbClr val="0891B2"/>
          </a:solidFill>
          <a:ln w="12700">
            <a:solidFill>
              <a:srgbClr val="0891B2"/>
            </a:solidFill>
            <a:prstDash val="solid"/>
          </a:ln>
        </p:spPr>
        <p:txBody>
          <a:bodyPr/>
          <a:lstStyle/>
          <a:p>
            <a:endParaRPr lang="es-CO"/>
          </a:p>
        </p:txBody>
      </p:sp>
      <p:sp>
        <p:nvSpPr>
          <p:cNvPr id="10" name="Text 8"/>
          <p:cNvSpPr/>
          <p:nvPr/>
        </p:nvSpPr>
        <p:spPr>
          <a:xfrm>
            <a:off x="457200" y="3383280"/>
            <a:ext cx="7315200" cy="365760"/>
          </a:xfrm>
          <a:prstGeom prst="rect">
            <a:avLst/>
          </a:prstGeom>
          <a:noFill/>
          <a:ln/>
        </p:spPr>
        <p:txBody>
          <a:bodyPr wrap="square" rtlCol="0" anchor="ctr"/>
          <a:lstStyle/>
          <a:p>
            <a:pPr marL="0" indent="0">
              <a:buNone/>
            </a:pPr>
            <a:r>
              <a:rPr lang="en-US" sz="1200" dirty="0">
                <a:solidFill>
                  <a:srgbClr val="94A3B8"/>
                </a:solidFill>
              </a:rPr>
              <a:t>Parcial 2  •  Digitales II  •  Ing. Luis E. Acosta</a:t>
            </a:r>
            <a:endParaRPr lang="en-US" sz="1200" dirty="0"/>
          </a:p>
        </p:txBody>
      </p:sp>
      <p:sp>
        <p:nvSpPr>
          <p:cNvPr id="11" name="Text 9"/>
          <p:cNvSpPr/>
          <p:nvPr/>
        </p:nvSpPr>
        <p:spPr>
          <a:xfrm>
            <a:off x="457200" y="3794760"/>
            <a:ext cx="7315200" cy="320040"/>
          </a:xfrm>
          <a:prstGeom prst="rect">
            <a:avLst/>
          </a:prstGeom>
          <a:noFill/>
          <a:ln/>
        </p:spPr>
        <p:txBody>
          <a:bodyPr wrap="square" rtlCol="0" anchor="ctr"/>
          <a:lstStyle/>
          <a:p>
            <a:pPr marL="0" indent="0">
              <a:buNone/>
            </a:pPr>
            <a:r>
              <a:rPr lang="es-419" sz="1100" dirty="0">
                <a:solidFill>
                  <a:schemeClr val="bg2"/>
                </a:solidFill>
              </a:rPr>
              <a:t>Nayelis Castillo</a:t>
            </a:r>
          </a:p>
          <a:p>
            <a:pPr marL="0" indent="0">
              <a:buNone/>
            </a:pPr>
            <a:r>
              <a:rPr lang="es-419" sz="1100" dirty="0">
                <a:solidFill>
                  <a:schemeClr val="bg2"/>
                </a:solidFill>
              </a:rPr>
              <a:t>Huver Castro </a:t>
            </a:r>
          </a:p>
          <a:p>
            <a:pPr marL="0" indent="0">
              <a:buNone/>
            </a:pPr>
            <a:endParaRPr lang="en-US" sz="1100" dirty="0">
              <a:solidFill>
                <a:schemeClr val="bg2"/>
              </a:solidFill>
            </a:endParaRPr>
          </a:p>
        </p:txBody>
      </p:sp>
      <p:sp>
        <p:nvSpPr>
          <p:cNvPr id="12" name="Text 10"/>
          <p:cNvSpPr/>
          <p:nvPr/>
        </p:nvSpPr>
        <p:spPr>
          <a:xfrm>
            <a:off x="457200" y="4480560"/>
            <a:ext cx="3657600" cy="320040"/>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Contenido de la Presentación</a:t>
            </a:r>
            <a:endParaRPr lang="en-US" sz="2200" dirty="0"/>
          </a:p>
        </p:txBody>
      </p:sp>
      <p:sp>
        <p:nvSpPr>
          <p:cNvPr id="6" name="Shape 4"/>
          <p:cNvSpPr/>
          <p:nvPr/>
        </p:nvSpPr>
        <p:spPr>
          <a:xfrm>
            <a:off x="274320" y="1234440"/>
            <a:ext cx="4206240" cy="804672"/>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7" name="Text 5"/>
          <p:cNvSpPr/>
          <p:nvPr/>
        </p:nvSpPr>
        <p:spPr>
          <a:xfrm>
            <a:off x="365760" y="1280160"/>
            <a:ext cx="502920" cy="713232"/>
          </a:xfrm>
          <a:prstGeom prst="rect">
            <a:avLst/>
          </a:prstGeom>
          <a:noFill/>
          <a:ln/>
        </p:spPr>
        <p:txBody>
          <a:bodyPr wrap="square" lIns="0" tIns="0" rIns="0" bIns="0" rtlCol="0" anchor="ctr"/>
          <a:lstStyle/>
          <a:p>
            <a:pPr marL="0" indent="0" algn="ctr">
              <a:buNone/>
            </a:pPr>
            <a:r>
              <a:rPr lang="en-US" sz="2200" b="1" dirty="0">
                <a:solidFill>
                  <a:srgbClr val="0891B2"/>
                </a:solidFill>
              </a:rPr>
              <a:t>01</a:t>
            </a:r>
            <a:endParaRPr lang="en-US" sz="2200" dirty="0"/>
          </a:p>
        </p:txBody>
      </p:sp>
      <p:sp>
        <p:nvSpPr>
          <p:cNvPr id="8" name="Shape 6"/>
          <p:cNvSpPr/>
          <p:nvPr/>
        </p:nvSpPr>
        <p:spPr>
          <a:xfrm>
            <a:off x="896112" y="1399032"/>
            <a:ext cx="27432" cy="475488"/>
          </a:xfrm>
          <a:prstGeom prst="rect">
            <a:avLst/>
          </a:prstGeom>
          <a:solidFill>
            <a:srgbClr val="0891B2"/>
          </a:solidFill>
          <a:ln w="12700">
            <a:solidFill>
              <a:srgbClr val="0891B2"/>
            </a:solidFill>
            <a:prstDash val="solid"/>
          </a:ln>
        </p:spPr>
        <p:txBody>
          <a:bodyPr/>
          <a:lstStyle/>
          <a:p>
            <a:endParaRPr lang="es-CO"/>
          </a:p>
        </p:txBody>
      </p:sp>
      <p:sp>
        <p:nvSpPr>
          <p:cNvPr id="9" name="Text 7"/>
          <p:cNvSpPr/>
          <p:nvPr/>
        </p:nvSpPr>
        <p:spPr>
          <a:xfrm>
            <a:off x="987552" y="1307592"/>
            <a:ext cx="3383280" cy="320040"/>
          </a:xfrm>
          <a:prstGeom prst="rect">
            <a:avLst/>
          </a:prstGeom>
          <a:noFill/>
          <a:ln/>
        </p:spPr>
        <p:txBody>
          <a:bodyPr wrap="square" lIns="0" tIns="0" rIns="0" bIns="0" rtlCol="0" anchor="ctr"/>
          <a:lstStyle/>
          <a:p>
            <a:pPr marL="0" indent="0">
              <a:buNone/>
            </a:pPr>
            <a:r>
              <a:rPr lang="en-US" sz="1300" b="1" dirty="0">
                <a:solidFill>
                  <a:srgbClr val="FFFFFF"/>
                </a:solidFill>
              </a:rPr>
              <a:t>Introducción</a:t>
            </a:r>
            <a:endParaRPr lang="en-US" sz="1300" dirty="0"/>
          </a:p>
        </p:txBody>
      </p:sp>
      <p:sp>
        <p:nvSpPr>
          <p:cNvPr id="10" name="Text 8"/>
          <p:cNvSpPr/>
          <p:nvPr/>
        </p:nvSpPr>
        <p:spPr>
          <a:xfrm>
            <a:off x="987552" y="1645920"/>
            <a:ext cx="3383280" cy="274320"/>
          </a:xfrm>
          <a:prstGeom prst="rect">
            <a:avLst/>
          </a:prstGeom>
          <a:noFill/>
          <a:ln/>
        </p:spPr>
        <p:txBody>
          <a:bodyPr wrap="square" lIns="0" tIns="0" rIns="0" bIns="0" rtlCol="0" anchor="ctr"/>
          <a:lstStyle/>
          <a:p>
            <a:pPr marL="0" indent="0">
              <a:buNone/>
            </a:pPr>
            <a:r>
              <a:rPr lang="en-US" sz="1000" dirty="0">
                <a:solidFill>
                  <a:srgbClr val="94A3B8"/>
                </a:solidFill>
              </a:rPr>
              <a:t>Contexto del problema y motivación</a:t>
            </a:r>
            <a:endParaRPr lang="en-US" sz="1000" dirty="0"/>
          </a:p>
        </p:txBody>
      </p:sp>
      <p:sp>
        <p:nvSpPr>
          <p:cNvPr id="11" name="Shape 9"/>
          <p:cNvSpPr/>
          <p:nvPr/>
        </p:nvSpPr>
        <p:spPr>
          <a:xfrm>
            <a:off x="274320" y="2167128"/>
            <a:ext cx="4206240" cy="804672"/>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2" name="Text 10"/>
          <p:cNvSpPr/>
          <p:nvPr/>
        </p:nvSpPr>
        <p:spPr>
          <a:xfrm>
            <a:off x="365760" y="2212848"/>
            <a:ext cx="502920" cy="713232"/>
          </a:xfrm>
          <a:prstGeom prst="rect">
            <a:avLst/>
          </a:prstGeom>
          <a:noFill/>
          <a:ln/>
        </p:spPr>
        <p:txBody>
          <a:bodyPr wrap="square" lIns="0" tIns="0" rIns="0" bIns="0" rtlCol="0" anchor="ctr"/>
          <a:lstStyle/>
          <a:p>
            <a:pPr marL="0" indent="0" algn="ctr">
              <a:buNone/>
            </a:pPr>
            <a:r>
              <a:rPr lang="en-US" sz="2200" b="1" dirty="0">
                <a:solidFill>
                  <a:srgbClr val="0891B2"/>
                </a:solidFill>
              </a:rPr>
              <a:t>02</a:t>
            </a:r>
            <a:endParaRPr lang="en-US" sz="2200" dirty="0"/>
          </a:p>
        </p:txBody>
      </p:sp>
      <p:sp>
        <p:nvSpPr>
          <p:cNvPr id="13" name="Shape 11"/>
          <p:cNvSpPr/>
          <p:nvPr/>
        </p:nvSpPr>
        <p:spPr>
          <a:xfrm>
            <a:off x="896112" y="2331720"/>
            <a:ext cx="27432" cy="475488"/>
          </a:xfrm>
          <a:prstGeom prst="rect">
            <a:avLst/>
          </a:prstGeom>
          <a:solidFill>
            <a:srgbClr val="0891B2"/>
          </a:solidFill>
          <a:ln w="12700">
            <a:solidFill>
              <a:srgbClr val="0891B2"/>
            </a:solidFill>
            <a:prstDash val="solid"/>
          </a:ln>
        </p:spPr>
        <p:txBody>
          <a:bodyPr/>
          <a:lstStyle/>
          <a:p>
            <a:endParaRPr lang="es-CO"/>
          </a:p>
        </p:txBody>
      </p:sp>
      <p:sp>
        <p:nvSpPr>
          <p:cNvPr id="14" name="Text 12"/>
          <p:cNvSpPr/>
          <p:nvPr/>
        </p:nvSpPr>
        <p:spPr>
          <a:xfrm>
            <a:off x="987552" y="2240280"/>
            <a:ext cx="3383280" cy="320040"/>
          </a:xfrm>
          <a:prstGeom prst="rect">
            <a:avLst/>
          </a:prstGeom>
          <a:noFill/>
          <a:ln/>
        </p:spPr>
        <p:txBody>
          <a:bodyPr wrap="square" lIns="0" tIns="0" rIns="0" bIns="0" rtlCol="0" anchor="ctr"/>
          <a:lstStyle/>
          <a:p>
            <a:pPr marL="0" indent="0">
              <a:buNone/>
            </a:pPr>
            <a:r>
              <a:rPr lang="en-US" sz="1300" b="1" dirty="0">
                <a:solidFill>
                  <a:srgbClr val="FFFFFF"/>
                </a:solidFill>
              </a:rPr>
              <a:t>Objetivos</a:t>
            </a:r>
            <a:endParaRPr lang="en-US" sz="1300" dirty="0"/>
          </a:p>
        </p:txBody>
      </p:sp>
      <p:sp>
        <p:nvSpPr>
          <p:cNvPr id="15" name="Text 13"/>
          <p:cNvSpPr/>
          <p:nvPr/>
        </p:nvSpPr>
        <p:spPr>
          <a:xfrm>
            <a:off x="987552" y="2578608"/>
            <a:ext cx="3383280" cy="274320"/>
          </a:xfrm>
          <a:prstGeom prst="rect">
            <a:avLst/>
          </a:prstGeom>
          <a:noFill/>
          <a:ln/>
        </p:spPr>
        <p:txBody>
          <a:bodyPr wrap="square" lIns="0" tIns="0" rIns="0" bIns="0" rtlCol="0" anchor="ctr"/>
          <a:lstStyle/>
          <a:p>
            <a:pPr marL="0" indent="0">
              <a:buNone/>
            </a:pPr>
            <a:r>
              <a:rPr lang="en-US" sz="1000" dirty="0">
                <a:solidFill>
                  <a:srgbClr val="94A3B8"/>
                </a:solidFill>
              </a:rPr>
              <a:t>Metas del proyecto</a:t>
            </a:r>
            <a:endParaRPr lang="en-US" sz="1000" dirty="0"/>
          </a:p>
        </p:txBody>
      </p:sp>
      <p:sp>
        <p:nvSpPr>
          <p:cNvPr id="16" name="Shape 14"/>
          <p:cNvSpPr/>
          <p:nvPr/>
        </p:nvSpPr>
        <p:spPr>
          <a:xfrm>
            <a:off x="274320" y="3099816"/>
            <a:ext cx="4206240" cy="804672"/>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7" name="Text 15"/>
          <p:cNvSpPr/>
          <p:nvPr/>
        </p:nvSpPr>
        <p:spPr>
          <a:xfrm>
            <a:off x="365760" y="3145536"/>
            <a:ext cx="502920" cy="713232"/>
          </a:xfrm>
          <a:prstGeom prst="rect">
            <a:avLst/>
          </a:prstGeom>
          <a:noFill/>
          <a:ln/>
        </p:spPr>
        <p:txBody>
          <a:bodyPr wrap="square" lIns="0" tIns="0" rIns="0" bIns="0" rtlCol="0" anchor="ctr"/>
          <a:lstStyle/>
          <a:p>
            <a:pPr marL="0" indent="0" algn="ctr">
              <a:buNone/>
            </a:pPr>
            <a:r>
              <a:rPr lang="en-US" sz="2200" b="1" dirty="0">
                <a:solidFill>
                  <a:srgbClr val="0891B2"/>
                </a:solidFill>
              </a:rPr>
              <a:t>03</a:t>
            </a:r>
            <a:endParaRPr lang="en-US" sz="2200" dirty="0"/>
          </a:p>
        </p:txBody>
      </p:sp>
      <p:sp>
        <p:nvSpPr>
          <p:cNvPr id="18" name="Shape 16"/>
          <p:cNvSpPr/>
          <p:nvPr/>
        </p:nvSpPr>
        <p:spPr>
          <a:xfrm>
            <a:off x="896112" y="3264408"/>
            <a:ext cx="27432" cy="475488"/>
          </a:xfrm>
          <a:prstGeom prst="rect">
            <a:avLst/>
          </a:prstGeom>
          <a:solidFill>
            <a:srgbClr val="0891B2"/>
          </a:solidFill>
          <a:ln w="12700">
            <a:solidFill>
              <a:srgbClr val="0891B2"/>
            </a:solidFill>
            <a:prstDash val="solid"/>
          </a:ln>
        </p:spPr>
        <p:txBody>
          <a:bodyPr/>
          <a:lstStyle/>
          <a:p>
            <a:endParaRPr lang="es-CO"/>
          </a:p>
        </p:txBody>
      </p:sp>
      <p:sp>
        <p:nvSpPr>
          <p:cNvPr id="19" name="Text 17"/>
          <p:cNvSpPr/>
          <p:nvPr/>
        </p:nvSpPr>
        <p:spPr>
          <a:xfrm>
            <a:off x="987552" y="3172968"/>
            <a:ext cx="3383280" cy="320040"/>
          </a:xfrm>
          <a:prstGeom prst="rect">
            <a:avLst/>
          </a:prstGeom>
          <a:noFill/>
          <a:ln/>
        </p:spPr>
        <p:txBody>
          <a:bodyPr wrap="square" lIns="0" tIns="0" rIns="0" bIns="0" rtlCol="0" anchor="ctr"/>
          <a:lstStyle/>
          <a:p>
            <a:pPr marL="0" indent="0">
              <a:buNone/>
            </a:pPr>
            <a:r>
              <a:rPr lang="en-US" sz="1300" b="1" dirty="0">
                <a:solidFill>
                  <a:srgbClr val="FFFFFF"/>
                </a:solidFill>
              </a:rPr>
              <a:t>Descripción del Problema</a:t>
            </a:r>
            <a:endParaRPr lang="en-US" sz="1300" dirty="0"/>
          </a:p>
        </p:txBody>
      </p:sp>
      <p:sp>
        <p:nvSpPr>
          <p:cNvPr id="20" name="Text 18"/>
          <p:cNvSpPr/>
          <p:nvPr/>
        </p:nvSpPr>
        <p:spPr>
          <a:xfrm>
            <a:off x="987552" y="3511296"/>
            <a:ext cx="3383280" cy="274320"/>
          </a:xfrm>
          <a:prstGeom prst="rect">
            <a:avLst/>
          </a:prstGeom>
          <a:noFill/>
          <a:ln/>
        </p:spPr>
        <p:txBody>
          <a:bodyPr wrap="square" lIns="0" tIns="0" rIns="0" bIns="0" rtlCol="0" anchor="ctr"/>
          <a:lstStyle/>
          <a:p>
            <a:pPr marL="0" indent="0">
              <a:buNone/>
            </a:pPr>
            <a:r>
              <a:rPr lang="en-US" sz="1000" dirty="0">
                <a:solidFill>
                  <a:srgbClr val="94A3B8"/>
                </a:solidFill>
              </a:rPr>
              <a:t>Sistema de control de trenes eléctricos</a:t>
            </a:r>
            <a:endParaRPr lang="en-US" sz="1000" dirty="0"/>
          </a:p>
        </p:txBody>
      </p:sp>
      <p:sp>
        <p:nvSpPr>
          <p:cNvPr id="21" name="Shape 19"/>
          <p:cNvSpPr/>
          <p:nvPr/>
        </p:nvSpPr>
        <p:spPr>
          <a:xfrm>
            <a:off x="274320" y="4032504"/>
            <a:ext cx="4206240" cy="804672"/>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22" name="Text 20"/>
          <p:cNvSpPr/>
          <p:nvPr/>
        </p:nvSpPr>
        <p:spPr>
          <a:xfrm>
            <a:off x="365760" y="4078224"/>
            <a:ext cx="502920" cy="713232"/>
          </a:xfrm>
          <a:prstGeom prst="rect">
            <a:avLst/>
          </a:prstGeom>
          <a:noFill/>
          <a:ln/>
        </p:spPr>
        <p:txBody>
          <a:bodyPr wrap="square" lIns="0" tIns="0" rIns="0" bIns="0" rtlCol="0" anchor="ctr"/>
          <a:lstStyle/>
          <a:p>
            <a:pPr marL="0" indent="0" algn="ctr">
              <a:buNone/>
            </a:pPr>
            <a:r>
              <a:rPr lang="en-US" sz="2200" b="1" dirty="0">
                <a:solidFill>
                  <a:srgbClr val="0891B2"/>
                </a:solidFill>
              </a:rPr>
              <a:t>04</a:t>
            </a:r>
            <a:endParaRPr lang="en-US" sz="2200" dirty="0"/>
          </a:p>
        </p:txBody>
      </p:sp>
      <p:sp>
        <p:nvSpPr>
          <p:cNvPr id="23" name="Shape 21"/>
          <p:cNvSpPr/>
          <p:nvPr/>
        </p:nvSpPr>
        <p:spPr>
          <a:xfrm>
            <a:off x="896112" y="4197096"/>
            <a:ext cx="27432" cy="475488"/>
          </a:xfrm>
          <a:prstGeom prst="rect">
            <a:avLst/>
          </a:prstGeom>
          <a:solidFill>
            <a:srgbClr val="0891B2"/>
          </a:solidFill>
          <a:ln w="12700">
            <a:solidFill>
              <a:srgbClr val="0891B2"/>
            </a:solidFill>
            <a:prstDash val="solid"/>
          </a:ln>
        </p:spPr>
        <p:txBody>
          <a:bodyPr/>
          <a:lstStyle/>
          <a:p>
            <a:endParaRPr lang="es-CO"/>
          </a:p>
        </p:txBody>
      </p:sp>
      <p:sp>
        <p:nvSpPr>
          <p:cNvPr id="24" name="Text 22"/>
          <p:cNvSpPr/>
          <p:nvPr/>
        </p:nvSpPr>
        <p:spPr>
          <a:xfrm>
            <a:off x="987552" y="4105656"/>
            <a:ext cx="3383280" cy="320040"/>
          </a:xfrm>
          <a:prstGeom prst="rect">
            <a:avLst/>
          </a:prstGeom>
          <a:noFill/>
          <a:ln/>
        </p:spPr>
        <p:txBody>
          <a:bodyPr wrap="square" lIns="0" tIns="0" rIns="0" bIns="0" rtlCol="0" anchor="ctr"/>
          <a:lstStyle/>
          <a:p>
            <a:pPr marL="0" indent="0">
              <a:buNone/>
            </a:pPr>
            <a:r>
              <a:rPr lang="en-US" sz="1300" b="1" dirty="0">
                <a:solidFill>
                  <a:srgbClr val="FFFFFF"/>
                </a:solidFill>
              </a:rPr>
              <a:t>Código VHDL</a:t>
            </a:r>
            <a:endParaRPr lang="en-US" sz="1300" dirty="0"/>
          </a:p>
        </p:txBody>
      </p:sp>
      <p:sp>
        <p:nvSpPr>
          <p:cNvPr id="25" name="Text 23"/>
          <p:cNvSpPr/>
          <p:nvPr/>
        </p:nvSpPr>
        <p:spPr>
          <a:xfrm>
            <a:off x="987552" y="4443984"/>
            <a:ext cx="3383280" cy="274320"/>
          </a:xfrm>
          <a:prstGeom prst="rect">
            <a:avLst/>
          </a:prstGeom>
          <a:noFill/>
          <a:ln/>
        </p:spPr>
        <p:txBody>
          <a:bodyPr wrap="square" lIns="0" tIns="0" rIns="0" bIns="0" rtlCol="0" anchor="ctr"/>
          <a:lstStyle/>
          <a:p>
            <a:pPr marL="0" indent="0">
              <a:buNone/>
            </a:pPr>
            <a:r>
              <a:rPr lang="en-US" sz="1000" dirty="0">
                <a:solidFill>
                  <a:srgbClr val="94A3B8"/>
                </a:solidFill>
              </a:rPr>
              <a:t>Implementación de la máquina de estados</a:t>
            </a:r>
            <a:endParaRPr lang="en-US" sz="1000" dirty="0"/>
          </a:p>
        </p:txBody>
      </p:sp>
      <p:sp>
        <p:nvSpPr>
          <p:cNvPr id="26" name="Shape 24"/>
          <p:cNvSpPr/>
          <p:nvPr/>
        </p:nvSpPr>
        <p:spPr>
          <a:xfrm>
            <a:off x="4754880" y="1234440"/>
            <a:ext cx="4206240" cy="804672"/>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27" name="Text 25"/>
          <p:cNvSpPr/>
          <p:nvPr/>
        </p:nvSpPr>
        <p:spPr>
          <a:xfrm>
            <a:off x="4846320" y="1280160"/>
            <a:ext cx="502920" cy="713232"/>
          </a:xfrm>
          <a:prstGeom prst="rect">
            <a:avLst/>
          </a:prstGeom>
          <a:noFill/>
          <a:ln/>
        </p:spPr>
        <p:txBody>
          <a:bodyPr wrap="square" lIns="0" tIns="0" rIns="0" bIns="0" rtlCol="0" anchor="ctr"/>
          <a:lstStyle/>
          <a:p>
            <a:pPr marL="0" indent="0" algn="ctr">
              <a:buNone/>
            </a:pPr>
            <a:r>
              <a:rPr lang="en-US" sz="2200" b="1" dirty="0">
                <a:solidFill>
                  <a:srgbClr val="0891B2"/>
                </a:solidFill>
              </a:rPr>
              <a:t>05</a:t>
            </a:r>
            <a:endParaRPr lang="en-US" sz="2200" dirty="0"/>
          </a:p>
        </p:txBody>
      </p:sp>
      <p:sp>
        <p:nvSpPr>
          <p:cNvPr id="28" name="Shape 26"/>
          <p:cNvSpPr/>
          <p:nvPr/>
        </p:nvSpPr>
        <p:spPr>
          <a:xfrm>
            <a:off x="5376672" y="1399032"/>
            <a:ext cx="27432" cy="475488"/>
          </a:xfrm>
          <a:prstGeom prst="rect">
            <a:avLst/>
          </a:prstGeom>
          <a:solidFill>
            <a:srgbClr val="0891B2"/>
          </a:solidFill>
          <a:ln w="12700">
            <a:solidFill>
              <a:srgbClr val="0891B2"/>
            </a:solidFill>
            <a:prstDash val="solid"/>
          </a:ln>
        </p:spPr>
        <p:txBody>
          <a:bodyPr/>
          <a:lstStyle/>
          <a:p>
            <a:endParaRPr lang="es-CO"/>
          </a:p>
        </p:txBody>
      </p:sp>
      <p:sp>
        <p:nvSpPr>
          <p:cNvPr id="29" name="Text 27"/>
          <p:cNvSpPr/>
          <p:nvPr/>
        </p:nvSpPr>
        <p:spPr>
          <a:xfrm>
            <a:off x="5468112" y="1307592"/>
            <a:ext cx="3383280" cy="320040"/>
          </a:xfrm>
          <a:prstGeom prst="rect">
            <a:avLst/>
          </a:prstGeom>
          <a:noFill/>
          <a:ln/>
        </p:spPr>
        <p:txBody>
          <a:bodyPr wrap="square" lIns="0" tIns="0" rIns="0" bIns="0" rtlCol="0" anchor="ctr"/>
          <a:lstStyle/>
          <a:p>
            <a:pPr marL="0" indent="0">
              <a:buNone/>
            </a:pPr>
            <a:r>
              <a:rPr lang="en-US" sz="1300" b="1" dirty="0">
                <a:solidFill>
                  <a:srgbClr val="FFFFFF"/>
                </a:solidFill>
              </a:rPr>
              <a:t>RTL Obtenido</a:t>
            </a:r>
            <a:endParaRPr lang="en-US" sz="1300" dirty="0"/>
          </a:p>
        </p:txBody>
      </p:sp>
      <p:sp>
        <p:nvSpPr>
          <p:cNvPr id="30" name="Text 28"/>
          <p:cNvSpPr/>
          <p:nvPr/>
        </p:nvSpPr>
        <p:spPr>
          <a:xfrm>
            <a:off x="5468112" y="1645920"/>
            <a:ext cx="3383280" cy="274320"/>
          </a:xfrm>
          <a:prstGeom prst="rect">
            <a:avLst/>
          </a:prstGeom>
          <a:noFill/>
          <a:ln/>
        </p:spPr>
        <p:txBody>
          <a:bodyPr wrap="square" lIns="0" tIns="0" rIns="0" bIns="0" rtlCol="0" anchor="ctr"/>
          <a:lstStyle/>
          <a:p>
            <a:pPr marL="0" indent="0">
              <a:buNone/>
            </a:pPr>
            <a:r>
              <a:rPr lang="en-US" sz="1000" dirty="0">
                <a:solidFill>
                  <a:srgbClr val="94A3B8"/>
                </a:solidFill>
              </a:rPr>
              <a:t>Vista del diagrama RTL en Quartus</a:t>
            </a:r>
            <a:endParaRPr lang="en-US" sz="1000" dirty="0"/>
          </a:p>
        </p:txBody>
      </p:sp>
      <p:sp>
        <p:nvSpPr>
          <p:cNvPr id="31" name="Shape 29"/>
          <p:cNvSpPr/>
          <p:nvPr/>
        </p:nvSpPr>
        <p:spPr>
          <a:xfrm>
            <a:off x="4754880" y="2167128"/>
            <a:ext cx="4206240" cy="804672"/>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32" name="Text 30"/>
          <p:cNvSpPr/>
          <p:nvPr/>
        </p:nvSpPr>
        <p:spPr>
          <a:xfrm>
            <a:off x="4846320" y="2212848"/>
            <a:ext cx="502920" cy="713232"/>
          </a:xfrm>
          <a:prstGeom prst="rect">
            <a:avLst/>
          </a:prstGeom>
          <a:noFill/>
          <a:ln/>
        </p:spPr>
        <p:txBody>
          <a:bodyPr wrap="square" lIns="0" tIns="0" rIns="0" bIns="0" rtlCol="0" anchor="ctr"/>
          <a:lstStyle/>
          <a:p>
            <a:pPr marL="0" indent="0" algn="ctr">
              <a:buNone/>
            </a:pPr>
            <a:r>
              <a:rPr lang="en-US" sz="2200" b="1" dirty="0">
                <a:solidFill>
                  <a:srgbClr val="0891B2"/>
                </a:solidFill>
              </a:rPr>
              <a:t>06</a:t>
            </a:r>
            <a:endParaRPr lang="en-US" sz="2200" dirty="0"/>
          </a:p>
        </p:txBody>
      </p:sp>
      <p:sp>
        <p:nvSpPr>
          <p:cNvPr id="33" name="Shape 31"/>
          <p:cNvSpPr/>
          <p:nvPr/>
        </p:nvSpPr>
        <p:spPr>
          <a:xfrm>
            <a:off x="5376672" y="2331720"/>
            <a:ext cx="27432" cy="475488"/>
          </a:xfrm>
          <a:prstGeom prst="rect">
            <a:avLst/>
          </a:prstGeom>
          <a:solidFill>
            <a:srgbClr val="0891B2"/>
          </a:solidFill>
          <a:ln w="12700">
            <a:solidFill>
              <a:srgbClr val="0891B2"/>
            </a:solidFill>
            <a:prstDash val="solid"/>
          </a:ln>
        </p:spPr>
        <p:txBody>
          <a:bodyPr/>
          <a:lstStyle/>
          <a:p>
            <a:endParaRPr lang="es-CO"/>
          </a:p>
        </p:txBody>
      </p:sp>
      <p:sp>
        <p:nvSpPr>
          <p:cNvPr id="34" name="Text 32"/>
          <p:cNvSpPr/>
          <p:nvPr/>
        </p:nvSpPr>
        <p:spPr>
          <a:xfrm>
            <a:off x="5468112" y="2240280"/>
            <a:ext cx="3383280" cy="320040"/>
          </a:xfrm>
          <a:prstGeom prst="rect">
            <a:avLst/>
          </a:prstGeom>
          <a:noFill/>
          <a:ln/>
        </p:spPr>
        <p:txBody>
          <a:bodyPr wrap="square" lIns="0" tIns="0" rIns="0" bIns="0" rtlCol="0" anchor="ctr"/>
          <a:lstStyle/>
          <a:p>
            <a:pPr marL="0" indent="0">
              <a:buNone/>
            </a:pPr>
            <a:r>
              <a:rPr lang="en-US" sz="1300" b="1" dirty="0">
                <a:solidFill>
                  <a:srgbClr val="FFFFFF"/>
                </a:solidFill>
              </a:rPr>
              <a:t>Simulación</a:t>
            </a:r>
            <a:endParaRPr lang="en-US" sz="1300" dirty="0"/>
          </a:p>
        </p:txBody>
      </p:sp>
      <p:sp>
        <p:nvSpPr>
          <p:cNvPr id="35" name="Text 33"/>
          <p:cNvSpPr/>
          <p:nvPr/>
        </p:nvSpPr>
        <p:spPr>
          <a:xfrm>
            <a:off x="5468112" y="2578608"/>
            <a:ext cx="3383280" cy="274320"/>
          </a:xfrm>
          <a:prstGeom prst="rect">
            <a:avLst/>
          </a:prstGeom>
          <a:noFill/>
          <a:ln/>
        </p:spPr>
        <p:txBody>
          <a:bodyPr wrap="square" lIns="0" tIns="0" rIns="0" bIns="0" rtlCol="0" anchor="ctr"/>
          <a:lstStyle/>
          <a:p>
            <a:pPr marL="0" indent="0">
              <a:buNone/>
            </a:pPr>
            <a:r>
              <a:rPr lang="en-US" sz="1000" dirty="0">
                <a:solidFill>
                  <a:srgbClr val="94A3B8"/>
                </a:solidFill>
              </a:rPr>
              <a:t>Resultados y análisis de la simulación</a:t>
            </a:r>
            <a:endParaRPr lang="en-US" sz="1000" dirty="0"/>
          </a:p>
        </p:txBody>
      </p:sp>
      <p:sp>
        <p:nvSpPr>
          <p:cNvPr id="36" name="Shape 34"/>
          <p:cNvSpPr/>
          <p:nvPr/>
        </p:nvSpPr>
        <p:spPr>
          <a:xfrm>
            <a:off x="4754880" y="3099816"/>
            <a:ext cx="4206240" cy="804672"/>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37" name="Text 35"/>
          <p:cNvSpPr/>
          <p:nvPr/>
        </p:nvSpPr>
        <p:spPr>
          <a:xfrm>
            <a:off x="4846320" y="3145536"/>
            <a:ext cx="502920" cy="713232"/>
          </a:xfrm>
          <a:prstGeom prst="rect">
            <a:avLst/>
          </a:prstGeom>
          <a:noFill/>
          <a:ln/>
        </p:spPr>
        <p:txBody>
          <a:bodyPr wrap="square" lIns="0" tIns="0" rIns="0" bIns="0" rtlCol="0" anchor="ctr"/>
          <a:lstStyle/>
          <a:p>
            <a:pPr marL="0" indent="0" algn="ctr">
              <a:buNone/>
            </a:pPr>
            <a:r>
              <a:rPr lang="en-US" sz="2200" b="1" dirty="0">
                <a:solidFill>
                  <a:srgbClr val="0891B2"/>
                </a:solidFill>
              </a:rPr>
              <a:t>07</a:t>
            </a:r>
            <a:endParaRPr lang="en-US" sz="2200" dirty="0"/>
          </a:p>
        </p:txBody>
      </p:sp>
      <p:sp>
        <p:nvSpPr>
          <p:cNvPr id="38" name="Shape 36"/>
          <p:cNvSpPr/>
          <p:nvPr/>
        </p:nvSpPr>
        <p:spPr>
          <a:xfrm>
            <a:off x="5376672" y="3264408"/>
            <a:ext cx="27432" cy="475488"/>
          </a:xfrm>
          <a:prstGeom prst="rect">
            <a:avLst/>
          </a:prstGeom>
          <a:solidFill>
            <a:srgbClr val="0891B2"/>
          </a:solidFill>
          <a:ln w="12700">
            <a:solidFill>
              <a:srgbClr val="0891B2"/>
            </a:solidFill>
            <a:prstDash val="solid"/>
          </a:ln>
        </p:spPr>
        <p:txBody>
          <a:bodyPr/>
          <a:lstStyle/>
          <a:p>
            <a:endParaRPr lang="es-CO"/>
          </a:p>
        </p:txBody>
      </p:sp>
      <p:sp>
        <p:nvSpPr>
          <p:cNvPr id="39" name="Text 37"/>
          <p:cNvSpPr/>
          <p:nvPr/>
        </p:nvSpPr>
        <p:spPr>
          <a:xfrm>
            <a:off x="5468112" y="3172968"/>
            <a:ext cx="3383280" cy="320040"/>
          </a:xfrm>
          <a:prstGeom prst="rect">
            <a:avLst/>
          </a:prstGeom>
          <a:noFill/>
          <a:ln/>
        </p:spPr>
        <p:txBody>
          <a:bodyPr wrap="square" lIns="0" tIns="0" rIns="0" bIns="0" rtlCol="0" anchor="ctr"/>
          <a:lstStyle/>
          <a:p>
            <a:pPr marL="0" indent="0">
              <a:buNone/>
            </a:pPr>
            <a:r>
              <a:rPr lang="en-US" sz="1300" b="1" dirty="0">
                <a:solidFill>
                  <a:srgbClr val="FFFFFF"/>
                </a:solidFill>
              </a:rPr>
              <a:t>Repositorio</a:t>
            </a:r>
            <a:endParaRPr lang="en-US" sz="1300" dirty="0"/>
          </a:p>
        </p:txBody>
      </p:sp>
      <p:sp>
        <p:nvSpPr>
          <p:cNvPr id="40" name="Text 38"/>
          <p:cNvSpPr/>
          <p:nvPr/>
        </p:nvSpPr>
        <p:spPr>
          <a:xfrm>
            <a:off x="5468112" y="3511296"/>
            <a:ext cx="3383280" cy="274320"/>
          </a:xfrm>
          <a:prstGeom prst="rect">
            <a:avLst/>
          </a:prstGeom>
          <a:noFill/>
          <a:ln/>
        </p:spPr>
        <p:txBody>
          <a:bodyPr wrap="square" lIns="0" tIns="0" rIns="0" bIns="0" rtlCol="0" anchor="ctr"/>
          <a:lstStyle/>
          <a:p>
            <a:pPr marL="0" indent="0">
              <a:buNone/>
            </a:pPr>
            <a:r>
              <a:rPr lang="en-US" sz="1000" dirty="0">
                <a:solidFill>
                  <a:srgbClr val="94A3B8"/>
                </a:solidFill>
              </a:rPr>
              <a:t>Subida del proyecto a GitHub</a:t>
            </a:r>
            <a:endParaRPr lang="en-US" sz="1000" dirty="0"/>
          </a:p>
        </p:txBody>
      </p:sp>
      <p:sp>
        <p:nvSpPr>
          <p:cNvPr id="41" name="Shape 39"/>
          <p:cNvSpPr/>
          <p:nvPr/>
        </p:nvSpPr>
        <p:spPr>
          <a:xfrm>
            <a:off x="4754880" y="4032504"/>
            <a:ext cx="4206240" cy="804672"/>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42" name="Text 40"/>
          <p:cNvSpPr/>
          <p:nvPr/>
        </p:nvSpPr>
        <p:spPr>
          <a:xfrm>
            <a:off x="4846320" y="4078224"/>
            <a:ext cx="502920" cy="713232"/>
          </a:xfrm>
          <a:prstGeom prst="rect">
            <a:avLst/>
          </a:prstGeom>
          <a:noFill/>
          <a:ln/>
        </p:spPr>
        <p:txBody>
          <a:bodyPr wrap="square" lIns="0" tIns="0" rIns="0" bIns="0" rtlCol="0" anchor="ctr"/>
          <a:lstStyle/>
          <a:p>
            <a:pPr marL="0" indent="0" algn="ctr">
              <a:buNone/>
            </a:pPr>
            <a:r>
              <a:rPr lang="en-US" sz="2200" b="1" dirty="0">
                <a:solidFill>
                  <a:srgbClr val="0891B2"/>
                </a:solidFill>
              </a:rPr>
              <a:t>08</a:t>
            </a:r>
            <a:endParaRPr lang="en-US" sz="2200" dirty="0"/>
          </a:p>
        </p:txBody>
      </p:sp>
      <p:sp>
        <p:nvSpPr>
          <p:cNvPr id="43" name="Shape 41"/>
          <p:cNvSpPr/>
          <p:nvPr/>
        </p:nvSpPr>
        <p:spPr>
          <a:xfrm>
            <a:off x="5376672" y="4197096"/>
            <a:ext cx="27432" cy="475488"/>
          </a:xfrm>
          <a:prstGeom prst="rect">
            <a:avLst/>
          </a:prstGeom>
          <a:solidFill>
            <a:srgbClr val="0891B2"/>
          </a:solidFill>
          <a:ln w="12700">
            <a:solidFill>
              <a:srgbClr val="0891B2"/>
            </a:solidFill>
            <a:prstDash val="solid"/>
          </a:ln>
        </p:spPr>
        <p:txBody>
          <a:bodyPr/>
          <a:lstStyle/>
          <a:p>
            <a:endParaRPr lang="es-CO"/>
          </a:p>
        </p:txBody>
      </p:sp>
      <p:sp>
        <p:nvSpPr>
          <p:cNvPr id="44" name="Text 42"/>
          <p:cNvSpPr/>
          <p:nvPr/>
        </p:nvSpPr>
        <p:spPr>
          <a:xfrm>
            <a:off x="5468112" y="4105656"/>
            <a:ext cx="3383280" cy="320040"/>
          </a:xfrm>
          <a:prstGeom prst="rect">
            <a:avLst/>
          </a:prstGeom>
          <a:noFill/>
          <a:ln/>
        </p:spPr>
        <p:txBody>
          <a:bodyPr wrap="square" lIns="0" tIns="0" rIns="0" bIns="0" rtlCol="0" anchor="ctr"/>
          <a:lstStyle/>
          <a:p>
            <a:pPr marL="0" indent="0">
              <a:buNone/>
            </a:pPr>
            <a:r>
              <a:rPr lang="en-US" sz="1300" b="1" dirty="0">
                <a:solidFill>
                  <a:srgbClr val="FFFFFF"/>
                </a:solidFill>
              </a:rPr>
              <a:t>Conclusiones</a:t>
            </a:r>
            <a:endParaRPr lang="en-US" sz="1300" dirty="0"/>
          </a:p>
        </p:txBody>
      </p:sp>
      <p:sp>
        <p:nvSpPr>
          <p:cNvPr id="45" name="Text 43"/>
          <p:cNvSpPr/>
          <p:nvPr/>
        </p:nvSpPr>
        <p:spPr>
          <a:xfrm>
            <a:off x="5468112" y="4443984"/>
            <a:ext cx="3383280" cy="274320"/>
          </a:xfrm>
          <a:prstGeom prst="rect">
            <a:avLst/>
          </a:prstGeom>
          <a:noFill/>
          <a:ln/>
        </p:spPr>
        <p:txBody>
          <a:bodyPr wrap="square" lIns="0" tIns="0" rIns="0" bIns="0" rtlCol="0" anchor="ctr"/>
          <a:lstStyle/>
          <a:p>
            <a:pPr marL="0" indent="0">
              <a:buNone/>
            </a:pPr>
            <a:r>
              <a:rPr lang="en-US" sz="1000" dirty="0">
                <a:solidFill>
                  <a:srgbClr val="94A3B8"/>
                </a:solidFill>
              </a:rPr>
              <a:t>Resumen y aprendizajes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4" name="Text 2"/>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Introducción</a:t>
            </a:r>
            <a:endParaRPr lang="en-US" sz="2200" dirty="0"/>
          </a:p>
        </p:txBody>
      </p:sp>
      <p:sp>
        <p:nvSpPr>
          <p:cNvPr id="6" name="Shape 4"/>
          <p:cNvSpPr/>
          <p:nvPr/>
        </p:nvSpPr>
        <p:spPr>
          <a:xfrm>
            <a:off x="274320" y="1234440"/>
            <a:ext cx="8595360" cy="352044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7" name="Text 5"/>
          <p:cNvSpPr/>
          <p:nvPr/>
        </p:nvSpPr>
        <p:spPr>
          <a:xfrm>
            <a:off x="548640" y="1371600"/>
            <a:ext cx="8046720" cy="365760"/>
          </a:xfrm>
          <a:prstGeom prst="rect">
            <a:avLst/>
          </a:prstGeom>
          <a:noFill/>
          <a:ln/>
        </p:spPr>
        <p:txBody>
          <a:bodyPr wrap="square" lIns="0" tIns="0" rIns="0" bIns="0" rtlCol="0" anchor="ctr"/>
          <a:lstStyle/>
          <a:p>
            <a:pPr marL="0" indent="0">
              <a:buNone/>
            </a:pPr>
            <a:r>
              <a:rPr lang="en-US" sz="1500" b="1" dirty="0">
                <a:solidFill>
                  <a:srgbClr val="22D3EE"/>
                </a:solidFill>
              </a:rPr>
              <a:t>Contexto del Problema</a:t>
            </a:r>
            <a:endParaRPr lang="en-US" sz="1500" dirty="0"/>
          </a:p>
        </p:txBody>
      </p:sp>
      <p:sp>
        <p:nvSpPr>
          <p:cNvPr id="8" name="Text 6"/>
          <p:cNvSpPr/>
          <p:nvPr/>
        </p:nvSpPr>
        <p:spPr>
          <a:xfrm>
            <a:off x="548640" y="1783080"/>
            <a:ext cx="8046720" cy="2743200"/>
          </a:xfrm>
          <a:prstGeom prst="rect">
            <a:avLst/>
          </a:prstGeom>
          <a:noFill/>
          <a:ln/>
        </p:spPr>
        <p:txBody>
          <a:bodyPr wrap="square" lIns="0" tIns="0" rIns="0" bIns="0" rtlCol="0" anchor="t"/>
          <a:lstStyle/>
          <a:p>
            <a:pPr marL="342900" indent="-342900">
              <a:spcAft>
                <a:spcPts val="400"/>
              </a:spcAft>
              <a:buSzPct val="100000"/>
              <a:buChar char="•"/>
            </a:pPr>
            <a:r>
              <a:rPr lang="en-US" sz="1300" b="1" dirty="0">
                <a:solidFill>
                  <a:srgbClr val="FFFFFF"/>
                </a:solidFill>
              </a:rPr>
              <a:t>Se diseña un sistema de control para dos trenes eléctricos (A y B) que circulan por vías compartidas con riesgo de colisión.</a:t>
            </a:r>
            <a:endParaRPr lang="en-US" sz="1200" dirty="0"/>
          </a:p>
          <a:p>
            <a:pPr marL="342900" indent="-342900">
              <a:spcAft>
                <a:spcPts val="400"/>
              </a:spcAft>
              <a:buSzPct val="100000"/>
              <a:buChar char="•"/>
            </a:pPr>
            <a:r>
              <a:rPr lang="en-US" sz="1200" dirty="0">
                <a:solidFill>
                  <a:srgbClr val="E8F4F8"/>
                </a:solidFill>
              </a:rPr>
              <a:t>La vía está dividida en 4 segmentos con sensores en los puntos de entrada y salida para detectar la posición de los trenes.</a:t>
            </a:r>
            <a:endParaRPr lang="en-US" sz="1200" dirty="0"/>
          </a:p>
          <a:p>
            <a:pPr marL="342900" indent="-342900">
              <a:spcAft>
                <a:spcPts val="400"/>
              </a:spcAft>
              <a:buSzPct val="100000"/>
              <a:buChar char="•"/>
            </a:pPr>
            <a:r>
              <a:rPr lang="en-US" sz="1200" dirty="0">
                <a:solidFill>
                  <a:srgbClr val="E8F4F8"/>
                </a:solidFill>
              </a:rPr>
              <a:t>El controlador es una máquina de estados finitos (FSM) que recibe señales de sensores como entradas y controla la dirección de los trenes y la posición de los interruptores de vía.</a:t>
            </a:r>
            <a:endParaRPr lang="en-US" sz="1200" dirty="0"/>
          </a:p>
          <a:p>
            <a:pPr marL="342900" indent="-342900">
              <a:spcAft>
                <a:spcPts val="400"/>
              </a:spcAft>
              <a:buSzPct val="100000"/>
              <a:buChar char="•"/>
            </a:pPr>
            <a:r>
              <a:rPr lang="en-US" sz="1300" b="1" dirty="0">
                <a:solidFill>
                  <a:srgbClr val="FFFFFF"/>
                </a:solidFill>
              </a:rPr>
              <a:t>Principio fundamental: solo un tren a la vez puede estar en cualquier segmento de vía común (Vía 2).</a:t>
            </a:r>
            <a:endParaRPr lang="en-US" sz="1200" dirty="0"/>
          </a:p>
          <a:p>
            <a:pPr marL="342900" indent="-342900">
              <a:spcAft>
                <a:spcPts val="400"/>
              </a:spcAft>
              <a:buSzPct val="100000"/>
              <a:buChar char="•"/>
            </a:pPr>
            <a:r>
              <a:rPr lang="en-US" sz="1200" dirty="0">
                <a:solidFill>
                  <a:srgbClr val="E8F4F8"/>
                </a:solidFill>
              </a:rPr>
              <a:t>La implementación se realiza en VHDL sobre una plataforma FPGA usando Quartus Prime, con simulación virtual del sistema.</a:t>
            </a:r>
            <a:endParaRPr lang="en-US" sz="1200" dirty="0"/>
          </a:p>
          <a:p>
            <a:pPr marL="342900" indent="-342900">
              <a:spcAft>
                <a:spcPts val="400"/>
              </a:spcAft>
              <a:buSzPct val="100000"/>
              <a:buChar char="•"/>
            </a:pPr>
            <a:r>
              <a:rPr lang="en-US" sz="1200" dirty="0">
                <a:solidFill>
                  <a:srgbClr val="E8F4F8"/>
                </a:solidFill>
              </a:rPr>
              <a:t>La FSM no controla la velocidad del tren; debe funcionar correctamente independientemente de la velocidad de los trenes.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Objetivos</a:t>
            </a:r>
            <a:endParaRPr lang="en-US" sz="2200" dirty="0"/>
          </a:p>
        </p:txBody>
      </p:sp>
      <p:sp>
        <p:nvSpPr>
          <p:cNvPr id="6" name="Shape 4"/>
          <p:cNvSpPr/>
          <p:nvPr/>
        </p:nvSpPr>
        <p:spPr>
          <a:xfrm>
            <a:off x="1124927" y="1325880"/>
            <a:ext cx="6911730" cy="2777197"/>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7" name="Text 5"/>
          <p:cNvSpPr/>
          <p:nvPr/>
        </p:nvSpPr>
        <p:spPr>
          <a:xfrm>
            <a:off x="1304192" y="1325880"/>
            <a:ext cx="4777154" cy="1200150"/>
          </a:xfrm>
          <a:prstGeom prst="rect">
            <a:avLst/>
          </a:prstGeom>
          <a:noFill/>
          <a:ln/>
        </p:spPr>
        <p:txBody>
          <a:bodyPr wrap="square" lIns="0" tIns="0" rIns="0" bIns="0" rtlCol="0" anchor="ctr"/>
          <a:lstStyle/>
          <a:p>
            <a:pPr marL="0" indent="0">
              <a:buNone/>
            </a:pPr>
            <a:r>
              <a:rPr lang="en-US" sz="1300" b="1" dirty="0">
                <a:solidFill>
                  <a:srgbClr val="22D3EE"/>
                </a:solidFill>
              </a:rPr>
              <a:t>Objetivo General</a:t>
            </a:r>
            <a:endParaRPr lang="en-US" sz="1300" dirty="0"/>
          </a:p>
        </p:txBody>
      </p:sp>
      <p:sp>
        <p:nvSpPr>
          <p:cNvPr id="8" name="Text 6"/>
          <p:cNvSpPr/>
          <p:nvPr/>
        </p:nvSpPr>
        <p:spPr>
          <a:xfrm>
            <a:off x="1304192" y="1234440"/>
            <a:ext cx="5624146" cy="2235708"/>
          </a:xfrm>
          <a:prstGeom prst="rect">
            <a:avLst/>
          </a:prstGeom>
          <a:noFill/>
          <a:ln/>
        </p:spPr>
        <p:txBody>
          <a:bodyPr wrap="square" lIns="0" tIns="0" rIns="0" bIns="0" rtlCol="0" anchor="ctr"/>
          <a:lstStyle/>
          <a:p>
            <a:pPr marL="0" indent="0">
              <a:buNone/>
            </a:pPr>
            <a:r>
              <a:rPr lang="en-US" sz="1050" dirty="0">
                <a:solidFill>
                  <a:srgbClr val="E8F4F8"/>
                </a:solidFill>
              </a:rPr>
              <a:t>Diseñar e implementar en VHDL una máquina de estados finitos que controle de forma segura el tráfico de dos trenes eléctricos en una vía común compartida.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Descripción del Problema</a:t>
            </a:r>
            <a:endParaRPr lang="en-US" sz="2200" dirty="0"/>
          </a:p>
        </p:txBody>
      </p:sp>
      <p:sp>
        <p:nvSpPr>
          <p:cNvPr id="6" name="Shape 4"/>
          <p:cNvSpPr/>
          <p:nvPr/>
        </p:nvSpPr>
        <p:spPr>
          <a:xfrm>
            <a:off x="274320" y="1234440"/>
            <a:ext cx="4023360" cy="356616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7" name="Text 5"/>
          <p:cNvSpPr/>
          <p:nvPr/>
        </p:nvSpPr>
        <p:spPr>
          <a:xfrm>
            <a:off x="457200" y="1371600"/>
            <a:ext cx="3657600" cy="347472"/>
          </a:xfrm>
          <a:prstGeom prst="rect">
            <a:avLst/>
          </a:prstGeom>
          <a:noFill/>
          <a:ln/>
        </p:spPr>
        <p:txBody>
          <a:bodyPr wrap="square" lIns="0" tIns="0" rIns="0" bIns="0" rtlCol="0" anchor="ctr"/>
          <a:lstStyle/>
          <a:p>
            <a:pPr marL="0" indent="0">
              <a:buNone/>
            </a:pPr>
            <a:r>
              <a:rPr lang="en-US" sz="1300" b="1" dirty="0">
                <a:solidFill>
                  <a:srgbClr val="0891B2"/>
                </a:solidFill>
              </a:rPr>
              <a:t>ENTRADAS (Inputs)</a:t>
            </a:r>
            <a:endParaRPr lang="en-US" sz="1300" dirty="0"/>
          </a:p>
        </p:txBody>
      </p:sp>
      <p:sp>
        <p:nvSpPr>
          <p:cNvPr id="8" name="Text 6"/>
          <p:cNvSpPr/>
          <p:nvPr/>
        </p:nvSpPr>
        <p:spPr>
          <a:xfrm>
            <a:off x="457200" y="1783080"/>
            <a:ext cx="3657600" cy="2834640"/>
          </a:xfrm>
          <a:prstGeom prst="rect">
            <a:avLst/>
          </a:prstGeom>
          <a:noFill/>
          <a:ln/>
        </p:spPr>
        <p:txBody>
          <a:bodyPr wrap="square" lIns="0" tIns="0" rIns="0" bIns="0" rtlCol="0" anchor="ctr"/>
          <a:lstStyle/>
          <a:p>
            <a:pPr marL="0" indent="0">
              <a:spcAft>
                <a:spcPts val="300"/>
              </a:spcAft>
              <a:buNone/>
            </a:pPr>
            <a:r>
              <a:rPr lang="en-US" sz="1100" b="1" dirty="0">
                <a:solidFill>
                  <a:srgbClr val="22D3EE"/>
                </a:solidFill>
              </a:rPr>
              <a:t>Reset</a:t>
            </a:r>
            <a:endParaRPr lang="en-US" sz="1200" dirty="0"/>
          </a:p>
          <a:p>
            <a:pPr marL="342900" indent="-342900">
              <a:spcAft>
                <a:spcPts val="300"/>
              </a:spcAft>
              <a:buSzPct val="100000"/>
              <a:buChar char="•"/>
            </a:pPr>
            <a:r>
              <a:rPr lang="en-US" sz="1200" dirty="0">
                <a:solidFill>
                  <a:srgbClr val="E8F4F8"/>
                </a:solidFill>
              </a:rPr>
              <a:t>Reinicio del sistema</a:t>
            </a:r>
            <a:endParaRPr lang="en-US" sz="1200" dirty="0"/>
          </a:p>
          <a:p>
            <a:pPr marL="0" indent="0">
              <a:spcAft>
                <a:spcPts val="300"/>
              </a:spcAft>
              <a:buNone/>
            </a:pPr>
            <a:r>
              <a:rPr lang="en-US" sz="1100" b="1" dirty="0">
                <a:solidFill>
                  <a:srgbClr val="22D3EE"/>
                </a:solidFill>
              </a:rPr>
              <a:t>Sensores S1–S5</a:t>
            </a:r>
            <a:endParaRPr lang="en-US" sz="1200" dirty="0"/>
          </a:p>
          <a:p>
            <a:pPr marL="342900" indent="-342900">
              <a:spcAft>
                <a:spcPts val="300"/>
              </a:spcAft>
              <a:buSzPct val="100000"/>
              <a:buChar char="•"/>
            </a:pPr>
            <a:r>
              <a:rPr lang="en-US" sz="1200" dirty="0">
                <a:solidFill>
                  <a:srgbClr val="E8F4F8"/>
                </a:solidFill>
              </a:rPr>
              <a:t>1 = Tren presente</a:t>
            </a:r>
            <a:endParaRPr lang="en-US" sz="1200" dirty="0"/>
          </a:p>
          <a:p>
            <a:pPr marL="342900" indent="-342900">
              <a:spcAft>
                <a:spcPts val="300"/>
              </a:spcAft>
              <a:buSzPct val="100000"/>
              <a:buChar char="•"/>
            </a:pPr>
            <a:r>
              <a:rPr lang="en-US" sz="1200" dirty="0">
                <a:solidFill>
                  <a:srgbClr val="E8F4F8"/>
                </a:solidFill>
              </a:rPr>
              <a:t>0 = Tren no presente</a:t>
            </a:r>
            <a:endParaRPr lang="en-US" sz="1200" dirty="0"/>
          </a:p>
          <a:p>
            <a:pPr marL="0" indent="0">
              <a:spcAft>
                <a:spcPts val="300"/>
              </a:spcAft>
              <a:buNone/>
            </a:pPr>
            <a:r>
              <a:rPr lang="en-US" sz="1100" b="1" dirty="0">
                <a:solidFill>
                  <a:srgbClr val="22D3EE"/>
                </a:solidFill>
              </a:rPr>
              <a:t>CLK</a:t>
            </a:r>
            <a:endParaRPr lang="en-US" sz="1200" dirty="0"/>
          </a:p>
          <a:p>
            <a:pPr marL="342900" indent="-342900">
              <a:spcAft>
                <a:spcPts val="300"/>
              </a:spcAft>
              <a:buSzPct val="100000"/>
              <a:buChar char="•"/>
            </a:pPr>
            <a:r>
              <a:rPr lang="en-US" sz="1200" dirty="0">
                <a:solidFill>
                  <a:srgbClr val="E8F4F8"/>
                </a:solidFill>
              </a:rPr>
              <a:t>Señal de reloj para sincronizar la FPGA</a:t>
            </a:r>
            <a:endParaRPr lang="en-US" sz="1200" dirty="0"/>
          </a:p>
        </p:txBody>
      </p:sp>
      <p:sp>
        <p:nvSpPr>
          <p:cNvPr id="9" name="Shape 7"/>
          <p:cNvSpPr/>
          <p:nvPr/>
        </p:nvSpPr>
        <p:spPr>
          <a:xfrm>
            <a:off x="4663440" y="1234440"/>
            <a:ext cx="4206240" cy="356616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0" name="Text 8"/>
          <p:cNvSpPr/>
          <p:nvPr/>
        </p:nvSpPr>
        <p:spPr>
          <a:xfrm>
            <a:off x="4846320" y="1371600"/>
            <a:ext cx="3840480" cy="347472"/>
          </a:xfrm>
          <a:prstGeom prst="rect">
            <a:avLst/>
          </a:prstGeom>
          <a:noFill/>
          <a:ln/>
        </p:spPr>
        <p:txBody>
          <a:bodyPr wrap="square" lIns="0" tIns="0" rIns="0" bIns="0" rtlCol="0" anchor="ctr"/>
          <a:lstStyle/>
          <a:p>
            <a:pPr marL="0" indent="0">
              <a:buNone/>
            </a:pPr>
            <a:r>
              <a:rPr lang="en-US" sz="1300" b="1" dirty="0">
                <a:solidFill>
                  <a:srgbClr val="F59E0B"/>
                </a:solidFill>
              </a:rPr>
              <a:t>SALIDAS (Outputs)</a:t>
            </a:r>
            <a:endParaRPr lang="en-US" sz="1300" dirty="0"/>
          </a:p>
        </p:txBody>
      </p:sp>
      <p:sp>
        <p:nvSpPr>
          <p:cNvPr id="11" name="Text 9"/>
          <p:cNvSpPr/>
          <p:nvPr/>
        </p:nvSpPr>
        <p:spPr>
          <a:xfrm>
            <a:off x="4846320" y="1783080"/>
            <a:ext cx="3840480" cy="2834640"/>
          </a:xfrm>
          <a:prstGeom prst="rect">
            <a:avLst/>
          </a:prstGeom>
          <a:noFill/>
          <a:ln/>
        </p:spPr>
        <p:txBody>
          <a:bodyPr wrap="square" lIns="0" tIns="0" rIns="0" bIns="0" rtlCol="0" anchor="ctr"/>
          <a:lstStyle/>
          <a:p>
            <a:pPr marL="0" indent="0">
              <a:spcAft>
                <a:spcPts val="300"/>
              </a:spcAft>
              <a:buNone/>
            </a:pPr>
            <a:r>
              <a:rPr lang="en-US" sz="1100" b="1" dirty="0">
                <a:solidFill>
                  <a:srgbClr val="F59E0B"/>
                </a:solidFill>
              </a:rPr>
              <a:t>Switches SW1–SW3</a:t>
            </a:r>
            <a:endParaRPr lang="en-US" sz="1200" dirty="0"/>
          </a:p>
          <a:p>
            <a:pPr marL="342900" indent="-342900">
              <a:spcAft>
                <a:spcPts val="300"/>
              </a:spcAft>
              <a:buSzPct val="100000"/>
              <a:buChar char="•"/>
            </a:pPr>
            <a:r>
              <a:rPr lang="en-US" sz="1200" dirty="0">
                <a:solidFill>
                  <a:srgbClr val="E8F4F8"/>
                </a:solidFill>
              </a:rPr>
              <a:t>0 = Conectado a la vía exterior</a:t>
            </a:r>
            <a:endParaRPr lang="en-US" sz="1200" dirty="0"/>
          </a:p>
          <a:p>
            <a:pPr marL="342900" indent="-342900">
              <a:spcAft>
                <a:spcPts val="300"/>
              </a:spcAft>
              <a:buSzPct val="100000"/>
              <a:buChar char="•"/>
            </a:pPr>
            <a:r>
              <a:rPr lang="en-US" sz="1200" dirty="0">
                <a:solidFill>
                  <a:srgbClr val="E8F4F8"/>
                </a:solidFill>
              </a:rPr>
              <a:t>1 = Conectado a la vía interior</a:t>
            </a:r>
            <a:endParaRPr lang="en-US" sz="1200" dirty="0"/>
          </a:p>
          <a:p>
            <a:pPr marL="0" indent="0">
              <a:spcAft>
                <a:spcPts val="300"/>
              </a:spcAft>
              <a:buNone/>
            </a:pPr>
            <a:r>
              <a:rPr lang="en-US" sz="1100" b="1" dirty="0">
                <a:solidFill>
                  <a:srgbClr val="F59E0B"/>
                </a:solidFill>
              </a:rPr>
              <a:t>Dirección Tren A (DA1–DA0)</a:t>
            </a:r>
            <a:endParaRPr lang="en-US" sz="1200" dirty="0"/>
          </a:p>
          <a:p>
            <a:pPr marL="0" indent="0">
              <a:spcAft>
                <a:spcPts val="300"/>
              </a:spcAft>
              <a:buNone/>
            </a:pPr>
            <a:r>
              <a:rPr lang="en-US" sz="1100" b="1" dirty="0">
                <a:solidFill>
                  <a:srgbClr val="F59E0B"/>
                </a:solidFill>
              </a:rPr>
              <a:t>Dirección Tren B (DB1–DB0)</a:t>
            </a:r>
            <a:endParaRPr lang="en-US" sz="1200" dirty="0"/>
          </a:p>
          <a:p>
            <a:pPr marL="342900" indent="-342900">
              <a:spcAft>
                <a:spcPts val="300"/>
              </a:spcAft>
              <a:buSzPct val="100000"/>
              <a:buChar char="•"/>
            </a:pPr>
            <a:r>
              <a:rPr lang="en-US" sz="1200" dirty="0">
                <a:solidFill>
                  <a:srgbClr val="E8F4F8"/>
                </a:solidFill>
              </a:rPr>
              <a:t>00 = Parar (Stop)</a:t>
            </a:r>
            <a:endParaRPr lang="en-US" sz="1200" dirty="0"/>
          </a:p>
          <a:p>
            <a:pPr marL="342900" indent="-342900">
              <a:spcAft>
                <a:spcPts val="300"/>
              </a:spcAft>
              <a:buSzPct val="100000"/>
              <a:buChar char="•"/>
            </a:pPr>
            <a:r>
              <a:rPr lang="en-US" sz="1200" dirty="0">
                <a:solidFill>
                  <a:srgbClr val="E8F4F8"/>
                </a:solidFill>
              </a:rPr>
              <a:t>01 = Avanzar (sentido antihorario)</a:t>
            </a:r>
            <a:endParaRPr lang="en-US" sz="1200" dirty="0"/>
          </a:p>
          <a:p>
            <a:pPr marL="342900" indent="-342900">
              <a:spcAft>
                <a:spcPts val="300"/>
              </a:spcAft>
              <a:buSzPct val="100000"/>
              <a:buChar char="•"/>
            </a:pPr>
            <a:r>
              <a:rPr lang="en-US" sz="1200" dirty="0">
                <a:solidFill>
                  <a:srgbClr val="E8F4F8"/>
                </a:solidFill>
              </a:rPr>
              <a:t>10 = Retroceder (sentido horario)</a:t>
            </a:r>
            <a:endParaRPr lang="en-US" sz="1200" dirty="0"/>
          </a:p>
          <a:p>
            <a:pPr marL="342900" indent="-342900">
              <a:spcAft>
                <a:spcPts val="300"/>
              </a:spcAft>
              <a:buSzPct val="100000"/>
              <a:buChar char="•"/>
            </a:pPr>
            <a:r>
              <a:rPr lang="en-US" sz="1300" b="1" dirty="0">
                <a:solidFill>
                  <a:srgbClr val="FFFFFF"/>
                </a:solidFill>
              </a:rPr>
              <a:t>11 = PROHIBIDO — Error de sistema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Descripción del Problema</a:t>
            </a:r>
            <a:endParaRPr lang="en-US" sz="2200" dirty="0"/>
          </a:p>
        </p:txBody>
      </p:sp>
      <p:sp>
        <p:nvSpPr>
          <p:cNvPr id="6" name="Shape 4"/>
          <p:cNvSpPr/>
          <p:nvPr/>
        </p:nvSpPr>
        <p:spPr>
          <a:xfrm>
            <a:off x="274320" y="1234440"/>
            <a:ext cx="8595360" cy="694944"/>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7" name="Shape 5"/>
          <p:cNvSpPr/>
          <p:nvPr/>
        </p:nvSpPr>
        <p:spPr>
          <a:xfrm>
            <a:off x="365760" y="1325880"/>
            <a:ext cx="1005840" cy="512064"/>
          </a:xfrm>
          <a:prstGeom prst="ellipse">
            <a:avLst/>
          </a:prstGeom>
          <a:solidFill>
            <a:srgbClr val="10B981"/>
          </a:solidFill>
          <a:ln w="12700">
            <a:solidFill>
              <a:srgbClr val="10B981"/>
            </a:solidFill>
            <a:prstDash val="solid"/>
          </a:ln>
        </p:spPr>
        <p:txBody>
          <a:bodyPr/>
          <a:lstStyle/>
          <a:p>
            <a:endParaRPr lang="es-CO"/>
          </a:p>
        </p:txBody>
      </p:sp>
      <p:sp>
        <p:nvSpPr>
          <p:cNvPr id="8" name="Text 6"/>
          <p:cNvSpPr/>
          <p:nvPr/>
        </p:nvSpPr>
        <p:spPr>
          <a:xfrm>
            <a:off x="365760" y="1325880"/>
            <a:ext cx="1005840" cy="512064"/>
          </a:xfrm>
          <a:prstGeom prst="rect">
            <a:avLst/>
          </a:prstGeom>
          <a:noFill/>
          <a:ln/>
        </p:spPr>
        <p:txBody>
          <a:bodyPr wrap="square" lIns="0" tIns="0" rIns="0" bIns="0" rtlCol="0" anchor="ctr"/>
          <a:lstStyle/>
          <a:p>
            <a:pPr marL="0" indent="0" algn="ctr">
              <a:buNone/>
            </a:pPr>
            <a:r>
              <a:rPr lang="en-US" sz="1100" b="1" dirty="0">
                <a:solidFill>
                  <a:srgbClr val="0D1B2A"/>
                </a:solidFill>
              </a:rPr>
              <a:t>ABout</a:t>
            </a:r>
            <a:endParaRPr lang="en-US" sz="1100" dirty="0"/>
          </a:p>
        </p:txBody>
      </p:sp>
      <p:sp>
        <p:nvSpPr>
          <p:cNvPr id="9" name="Text 7"/>
          <p:cNvSpPr/>
          <p:nvPr/>
        </p:nvSpPr>
        <p:spPr>
          <a:xfrm>
            <a:off x="1508760" y="1307592"/>
            <a:ext cx="4114800" cy="274320"/>
          </a:xfrm>
          <a:prstGeom prst="rect">
            <a:avLst/>
          </a:prstGeom>
          <a:noFill/>
          <a:ln/>
        </p:spPr>
        <p:txBody>
          <a:bodyPr wrap="square" lIns="0" tIns="0" rIns="0" bIns="0" rtlCol="0" anchor="ctr"/>
          <a:lstStyle/>
          <a:p>
            <a:pPr marL="0" indent="0">
              <a:buNone/>
            </a:pPr>
            <a:r>
              <a:rPr lang="en-US" sz="1300" b="1" dirty="0">
                <a:solidFill>
                  <a:srgbClr val="FFFFFF"/>
                </a:solidFill>
              </a:rPr>
              <a:t>Estado inicial / neutro</a:t>
            </a:r>
            <a:endParaRPr lang="en-US" sz="1300" dirty="0"/>
          </a:p>
        </p:txBody>
      </p:sp>
      <p:sp>
        <p:nvSpPr>
          <p:cNvPr id="10" name="Text 8"/>
          <p:cNvSpPr/>
          <p:nvPr/>
        </p:nvSpPr>
        <p:spPr>
          <a:xfrm>
            <a:off x="1508760" y="1600200"/>
            <a:ext cx="7132320" cy="256032"/>
          </a:xfrm>
          <a:prstGeom prst="rect">
            <a:avLst/>
          </a:prstGeom>
          <a:noFill/>
          <a:ln/>
        </p:spPr>
        <p:txBody>
          <a:bodyPr wrap="square" lIns="0" tIns="0" rIns="0" bIns="0" rtlCol="0" anchor="ctr"/>
          <a:lstStyle/>
          <a:p>
            <a:pPr marL="0" indent="0">
              <a:buNone/>
            </a:pPr>
            <a:r>
              <a:rPr lang="en-US" sz="1050" dirty="0">
                <a:solidFill>
                  <a:srgbClr val="94A3B8"/>
                </a:solidFill>
              </a:rPr>
              <a:t>Ambos trenes en sus bucles. DA=01, DB=01. SW=0 (vía exterior).</a:t>
            </a:r>
            <a:endParaRPr lang="en-US" sz="1050" dirty="0"/>
          </a:p>
        </p:txBody>
      </p:sp>
      <p:sp>
        <p:nvSpPr>
          <p:cNvPr id="11" name="Shape 9"/>
          <p:cNvSpPr/>
          <p:nvPr/>
        </p:nvSpPr>
        <p:spPr>
          <a:xfrm>
            <a:off x="274320" y="2002536"/>
            <a:ext cx="8595360" cy="694944"/>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2" name="Shape 10"/>
          <p:cNvSpPr/>
          <p:nvPr/>
        </p:nvSpPr>
        <p:spPr>
          <a:xfrm>
            <a:off x="365760" y="2093976"/>
            <a:ext cx="1005840" cy="512064"/>
          </a:xfrm>
          <a:prstGeom prst="ellipse">
            <a:avLst/>
          </a:prstGeom>
          <a:solidFill>
            <a:srgbClr val="0891B2"/>
          </a:solidFill>
          <a:ln w="12700">
            <a:solidFill>
              <a:srgbClr val="0891B2"/>
            </a:solidFill>
            <a:prstDash val="solid"/>
          </a:ln>
        </p:spPr>
        <p:txBody>
          <a:bodyPr/>
          <a:lstStyle/>
          <a:p>
            <a:endParaRPr lang="es-CO"/>
          </a:p>
        </p:txBody>
      </p:sp>
      <p:sp>
        <p:nvSpPr>
          <p:cNvPr id="13" name="Text 11"/>
          <p:cNvSpPr/>
          <p:nvPr/>
        </p:nvSpPr>
        <p:spPr>
          <a:xfrm>
            <a:off x="365760" y="2093976"/>
            <a:ext cx="1005840" cy="512064"/>
          </a:xfrm>
          <a:prstGeom prst="rect">
            <a:avLst/>
          </a:prstGeom>
          <a:noFill/>
          <a:ln/>
        </p:spPr>
        <p:txBody>
          <a:bodyPr wrap="square" lIns="0" tIns="0" rIns="0" bIns="0" rtlCol="0" anchor="ctr"/>
          <a:lstStyle/>
          <a:p>
            <a:pPr marL="0" indent="0" algn="ctr">
              <a:buNone/>
            </a:pPr>
            <a:r>
              <a:rPr lang="en-US" sz="1100" b="1" dirty="0">
                <a:solidFill>
                  <a:srgbClr val="0D1B2A"/>
                </a:solidFill>
              </a:rPr>
              <a:t>Ain</a:t>
            </a:r>
            <a:endParaRPr lang="en-US" sz="1100" dirty="0"/>
          </a:p>
        </p:txBody>
      </p:sp>
      <p:sp>
        <p:nvSpPr>
          <p:cNvPr id="14" name="Text 12"/>
          <p:cNvSpPr/>
          <p:nvPr/>
        </p:nvSpPr>
        <p:spPr>
          <a:xfrm>
            <a:off x="1508760" y="2075688"/>
            <a:ext cx="4114800" cy="274320"/>
          </a:xfrm>
          <a:prstGeom prst="rect">
            <a:avLst/>
          </a:prstGeom>
          <a:noFill/>
          <a:ln/>
        </p:spPr>
        <p:txBody>
          <a:bodyPr wrap="square" lIns="0" tIns="0" rIns="0" bIns="0" rtlCol="0" anchor="ctr"/>
          <a:lstStyle/>
          <a:p>
            <a:pPr marL="0" indent="0">
              <a:buNone/>
            </a:pPr>
            <a:r>
              <a:rPr lang="en-US" sz="1300" b="1" dirty="0">
                <a:solidFill>
                  <a:srgbClr val="FFFFFF"/>
                </a:solidFill>
              </a:rPr>
              <a:t>Tren A entra a la vía común</a:t>
            </a:r>
            <a:endParaRPr lang="en-US" sz="1300" dirty="0"/>
          </a:p>
        </p:txBody>
      </p:sp>
      <p:sp>
        <p:nvSpPr>
          <p:cNvPr id="15" name="Text 13"/>
          <p:cNvSpPr/>
          <p:nvPr/>
        </p:nvSpPr>
        <p:spPr>
          <a:xfrm>
            <a:off x="1508760" y="2368296"/>
            <a:ext cx="7132320" cy="256032"/>
          </a:xfrm>
          <a:prstGeom prst="rect">
            <a:avLst/>
          </a:prstGeom>
          <a:noFill/>
          <a:ln/>
        </p:spPr>
        <p:txBody>
          <a:bodyPr wrap="square" lIns="0" tIns="0" rIns="0" bIns="0" rtlCol="0" anchor="ctr"/>
          <a:lstStyle/>
          <a:p>
            <a:pPr marL="0" indent="0">
              <a:buNone/>
            </a:pPr>
            <a:r>
              <a:rPr lang="en-US" sz="1050" dirty="0">
                <a:solidFill>
                  <a:srgbClr val="94A3B8"/>
                </a:solidFill>
              </a:rPr>
              <a:t>S1 activo antes o igual que S2. DA0=1, DB0=1. Ambos avanzan.</a:t>
            </a:r>
            <a:endParaRPr lang="en-US" sz="1050" dirty="0"/>
          </a:p>
        </p:txBody>
      </p:sp>
      <p:sp>
        <p:nvSpPr>
          <p:cNvPr id="16" name="Shape 14"/>
          <p:cNvSpPr/>
          <p:nvPr/>
        </p:nvSpPr>
        <p:spPr>
          <a:xfrm>
            <a:off x="274320" y="2770632"/>
            <a:ext cx="8595360" cy="694944"/>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7" name="Shape 15"/>
          <p:cNvSpPr/>
          <p:nvPr/>
        </p:nvSpPr>
        <p:spPr>
          <a:xfrm>
            <a:off x="365760" y="2862072"/>
            <a:ext cx="1005840" cy="512064"/>
          </a:xfrm>
          <a:prstGeom prst="ellipse">
            <a:avLst/>
          </a:prstGeom>
          <a:solidFill>
            <a:srgbClr val="0891B2"/>
          </a:solidFill>
          <a:ln w="12700">
            <a:solidFill>
              <a:srgbClr val="0891B2"/>
            </a:solidFill>
            <a:prstDash val="solid"/>
          </a:ln>
        </p:spPr>
        <p:txBody>
          <a:bodyPr/>
          <a:lstStyle/>
          <a:p>
            <a:endParaRPr lang="es-CO"/>
          </a:p>
        </p:txBody>
      </p:sp>
      <p:sp>
        <p:nvSpPr>
          <p:cNvPr id="18" name="Text 16"/>
          <p:cNvSpPr/>
          <p:nvPr/>
        </p:nvSpPr>
        <p:spPr>
          <a:xfrm>
            <a:off x="365760" y="2862072"/>
            <a:ext cx="1005840" cy="512064"/>
          </a:xfrm>
          <a:prstGeom prst="rect">
            <a:avLst/>
          </a:prstGeom>
          <a:noFill/>
          <a:ln/>
        </p:spPr>
        <p:txBody>
          <a:bodyPr wrap="square" lIns="0" tIns="0" rIns="0" bIns="0" rtlCol="0" anchor="ctr"/>
          <a:lstStyle/>
          <a:p>
            <a:pPr marL="0" indent="0" algn="ctr">
              <a:buNone/>
            </a:pPr>
            <a:r>
              <a:rPr lang="en-US" sz="1100" b="1" dirty="0">
                <a:solidFill>
                  <a:srgbClr val="0D1B2A"/>
                </a:solidFill>
              </a:rPr>
              <a:t>Bin</a:t>
            </a:r>
            <a:endParaRPr lang="en-US" sz="1100" dirty="0"/>
          </a:p>
        </p:txBody>
      </p:sp>
      <p:sp>
        <p:nvSpPr>
          <p:cNvPr id="19" name="Text 17"/>
          <p:cNvSpPr/>
          <p:nvPr/>
        </p:nvSpPr>
        <p:spPr>
          <a:xfrm>
            <a:off x="1508760" y="2843784"/>
            <a:ext cx="4114800" cy="274320"/>
          </a:xfrm>
          <a:prstGeom prst="rect">
            <a:avLst/>
          </a:prstGeom>
          <a:noFill/>
          <a:ln/>
        </p:spPr>
        <p:txBody>
          <a:bodyPr wrap="square" lIns="0" tIns="0" rIns="0" bIns="0" rtlCol="0" anchor="ctr"/>
          <a:lstStyle/>
          <a:p>
            <a:pPr marL="0" indent="0">
              <a:buNone/>
            </a:pPr>
            <a:r>
              <a:rPr lang="en-US" sz="1300" b="1" dirty="0">
                <a:solidFill>
                  <a:srgbClr val="FFFFFF"/>
                </a:solidFill>
              </a:rPr>
              <a:t>Tren B entra a la vía común</a:t>
            </a:r>
            <a:endParaRPr lang="en-US" sz="1300" dirty="0"/>
          </a:p>
        </p:txBody>
      </p:sp>
      <p:sp>
        <p:nvSpPr>
          <p:cNvPr id="20" name="Text 18"/>
          <p:cNvSpPr/>
          <p:nvPr/>
        </p:nvSpPr>
        <p:spPr>
          <a:xfrm>
            <a:off x="1508760" y="3136392"/>
            <a:ext cx="7132320" cy="256032"/>
          </a:xfrm>
          <a:prstGeom prst="rect">
            <a:avLst/>
          </a:prstGeom>
          <a:noFill/>
          <a:ln/>
        </p:spPr>
        <p:txBody>
          <a:bodyPr wrap="square" lIns="0" tIns="0" rIns="0" bIns="0" rtlCol="0" anchor="ctr"/>
          <a:lstStyle/>
          <a:p>
            <a:pPr marL="0" indent="0">
              <a:buNone/>
            </a:pPr>
            <a:r>
              <a:rPr lang="en-US" sz="1050" dirty="0">
                <a:solidFill>
                  <a:srgbClr val="94A3B8"/>
                </a:solidFill>
              </a:rPr>
              <a:t>S2 activo antes que S1. DB avanza hacia vía común. SW1, SW2=1.</a:t>
            </a:r>
            <a:endParaRPr lang="en-US" sz="1050" dirty="0"/>
          </a:p>
        </p:txBody>
      </p:sp>
      <p:sp>
        <p:nvSpPr>
          <p:cNvPr id="21" name="Shape 19"/>
          <p:cNvSpPr/>
          <p:nvPr/>
        </p:nvSpPr>
        <p:spPr>
          <a:xfrm>
            <a:off x="274320" y="3538728"/>
            <a:ext cx="8595360" cy="694944"/>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22" name="Shape 20"/>
          <p:cNvSpPr/>
          <p:nvPr/>
        </p:nvSpPr>
        <p:spPr>
          <a:xfrm>
            <a:off x="365760" y="3630168"/>
            <a:ext cx="1005840" cy="512064"/>
          </a:xfrm>
          <a:prstGeom prst="ellipse">
            <a:avLst/>
          </a:prstGeom>
          <a:solidFill>
            <a:srgbClr val="F59E0B"/>
          </a:solidFill>
          <a:ln w="12700">
            <a:solidFill>
              <a:srgbClr val="F59E0B"/>
            </a:solidFill>
            <a:prstDash val="solid"/>
          </a:ln>
        </p:spPr>
        <p:txBody>
          <a:bodyPr/>
          <a:lstStyle/>
          <a:p>
            <a:endParaRPr lang="es-CO"/>
          </a:p>
        </p:txBody>
      </p:sp>
      <p:sp>
        <p:nvSpPr>
          <p:cNvPr id="23" name="Text 21"/>
          <p:cNvSpPr/>
          <p:nvPr/>
        </p:nvSpPr>
        <p:spPr>
          <a:xfrm>
            <a:off x="365760" y="3630168"/>
            <a:ext cx="1005840" cy="512064"/>
          </a:xfrm>
          <a:prstGeom prst="rect">
            <a:avLst/>
          </a:prstGeom>
          <a:noFill/>
          <a:ln/>
        </p:spPr>
        <p:txBody>
          <a:bodyPr wrap="square" lIns="0" tIns="0" rIns="0" bIns="0" rtlCol="0" anchor="ctr"/>
          <a:lstStyle/>
          <a:p>
            <a:pPr marL="0" indent="0" algn="ctr">
              <a:buNone/>
            </a:pPr>
            <a:r>
              <a:rPr lang="en-US" sz="1100" b="1" dirty="0">
                <a:solidFill>
                  <a:srgbClr val="0D1B2A"/>
                </a:solidFill>
              </a:rPr>
              <a:t>Bstop</a:t>
            </a:r>
            <a:endParaRPr lang="en-US" sz="1100" dirty="0"/>
          </a:p>
        </p:txBody>
      </p:sp>
      <p:sp>
        <p:nvSpPr>
          <p:cNvPr id="24" name="Text 22"/>
          <p:cNvSpPr/>
          <p:nvPr/>
        </p:nvSpPr>
        <p:spPr>
          <a:xfrm>
            <a:off x="1508760" y="3611880"/>
            <a:ext cx="4114800" cy="274320"/>
          </a:xfrm>
          <a:prstGeom prst="rect">
            <a:avLst/>
          </a:prstGeom>
          <a:noFill/>
          <a:ln/>
        </p:spPr>
        <p:txBody>
          <a:bodyPr wrap="square" lIns="0" tIns="0" rIns="0" bIns="0" rtlCol="0" anchor="ctr"/>
          <a:lstStyle/>
          <a:p>
            <a:pPr marL="0" indent="0">
              <a:buNone/>
            </a:pPr>
            <a:r>
              <a:rPr lang="en-US" sz="1300" b="1" dirty="0">
                <a:solidFill>
                  <a:srgbClr val="FFFFFF"/>
                </a:solidFill>
              </a:rPr>
              <a:t>Tren B detenido — espera al A</a:t>
            </a:r>
            <a:endParaRPr lang="en-US" sz="1300" dirty="0"/>
          </a:p>
        </p:txBody>
      </p:sp>
      <p:sp>
        <p:nvSpPr>
          <p:cNvPr id="25" name="Text 23"/>
          <p:cNvSpPr/>
          <p:nvPr/>
        </p:nvSpPr>
        <p:spPr>
          <a:xfrm>
            <a:off x="1508760" y="3904488"/>
            <a:ext cx="7132320" cy="256032"/>
          </a:xfrm>
          <a:prstGeom prst="rect">
            <a:avLst/>
          </a:prstGeom>
          <a:noFill/>
          <a:ln/>
        </p:spPr>
        <p:txBody>
          <a:bodyPr wrap="square" lIns="0" tIns="0" rIns="0" bIns="0" rtlCol="0" anchor="ctr"/>
          <a:lstStyle/>
          <a:p>
            <a:pPr marL="0" indent="0">
              <a:buNone/>
            </a:pPr>
            <a:r>
              <a:rPr lang="en-US" sz="1050" dirty="0">
                <a:solidFill>
                  <a:srgbClr val="94A3B8"/>
                </a:solidFill>
              </a:rPr>
              <a:t>Tren A ocupa vía común. B detenido en S2. SW1, SW2 desactivados.</a:t>
            </a:r>
            <a:endParaRPr lang="en-US" sz="1050" dirty="0"/>
          </a:p>
        </p:txBody>
      </p:sp>
      <p:sp>
        <p:nvSpPr>
          <p:cNvPr id="26" name="Shape 24"/>
          <p:cNvSpPr/>
          <p:nvPr/>
        </p:nvSpPr>
        <p:spPr>
          <a:xfrm>
            <a:off x="274320" y="4306824"/>
            <a:ext cx="8595360" cy="694944"/>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27" name="Shape 25"/>
          <p:cNvSpPr/>
          <p:nvPr/>
        </p:nvSpPr>
        <p:spPr>
          <a:xfrm>
            <a:off x="365760" y="4398264"/>
            <a:ext cx="1005840" cy="512064"/>
          </a:xfrm>
          <a:prstGeom prst="ellipse">
            <a:avLst/>
          </a:prstGeom>
          <a:solidFill>
            <a:srgbClr val="EF4444"/>
          </a:solidFill>
          <a:ln w="12700">
            <a:solidFill>
              <a:srgbClr val="EF4444"/>
            </a:solidFill>
            <a:prstDash val="solid"/>
          </a:ln>
        </p:spPr>
        <p:txBody>
          <a:bodyPr/>
          <a:lstStyle/>
          <a:p>
            <a:endParaRPr lang="es-CO"/>
          </a:p>
        </p:txBody>
      </p:sp>
      <p:sp>
        <p:nvSpPr>
          <p:cNvPr id="28" name="Text 26"/>
          <p:cNvSpPr/>
          <p:nvPr/>
        </p:nvSpPr>
        <p:spPr>
          <a:xfrm>
            <a:off x="365760" y="4398264"/>
            <a:ext cx="1005840" cy="512064"/>
          </a:xfrm>
          <a:prstGeom prst="rect">
            <a:avLst/>
          </a:prstGeom>
          <a:noFill/>
          <a:ln/>
        </p:spPr>
        <p:txBody>
          <a:bodyPr wrap="square" lIns="0" tIns="0" rIns="0" bIns="0" rtlCol="0" anchor="ctr"/>
          <a:lstStyle/>
          <a:p>
            <a:pPr marL="0" indent="0" algn="ctr">
              <a:buNone/>
            </a:pPr>
            <a:r>
              <a:rPr lang="en-US" sz="1100" b="1" dirty="0">
                <a:solidFill>
                  <a:srgbClr val="0D1B2A"/>
                </a:solidFill>
              </a:rPr>
              <a:t>Astop</a:t>
            </a:r>
            <a:endParaRPr lang="en-US" sz="1100" dirty="0"/>
          </a:p>
        </p:txBody>
      </p:sp>
      <p:sp>
        <p:nvSpPr>
          <p:cNvPr id="29" name="Text 27"/>
          <p:cNvSpPr/>
          <p:nvPr/>
        </p:nvSpPr>
        <p:spPr>
          <a:xfrm>
            <a:off x="1508760" y="4379976"/>
            <a:ext cx="4114800" cy="274320"/>
          </a:xfrm>
          <a:prstGeom prst="rect">
            <a:avLst/>
          </a:prstGeom>
          <a:noFill/>
          <a:ln/>
        </p:spPr>
        <p:txBody>
          <a:bodyPr wrap="square" lIns="0" tIns="0" rIns="0" bIns="0" rtlCol="0" anchor="ctr"/>
          <a:lstStyle/>
          <a:p>
            <a:pPr marL="0" indent="0">
              <a:buNone/>
            </a:pPr>
            <a:r>
              <a:rPr lang="en-US" sz="1300" b="1" dirty="0">
                <a:solidFill>
                  <a:srgbClr val="FFFFFF"/>
                </a:solidFill>
              </a:rPr>
              <a:t>Tren A detenido — espera al B</a:t>
            </a:r>
            <a:endParaRPr lang="en-US" sz="1300" dirty="0"/>
          </a:p>
        </p:txBody>
      </p:sp>
      <p:sp>
        <p:nvSpPr>
          <p:cNvPr id="30" name="Text 28"/>
          <p:cNvSpPr/>
          <p:nvPr/>
        </p:nvSpPr>
        <p:spPr>
          <a:xfrm>
            <a:off x="1508760" y="4672584"/>
            <a:ext cx="7132320" cy="256032"/>
          </a:xfrm>
          <a:prstGeom prst="rect">
            <a:avLst/>
          </a:prstGeom>
          <a:noFill/>
          <a:ln/>
        </p:spPr>
        <p:txBody>
          <a:bodyPr wrap="square" lIns="0" tIns="0" rIns="0" bIns="0" rtlCol="0" anchor="ctr"/>
          <a:lstStyle/>
          <a:p>
            <a:pPr marL="0" indent="0">
              <a:buNone/>
            </a:pPr>
            <a:r>
              <a:rPr lang="en-US" sz="1050" dirty="0">
                <a:solidFill>
                  <a:srgbClr val="94A3B8"/>
                </a:solidFill>
              </a:rPr>
              <a:t>Tren B ocupa vía común. A detenido en S1. SW1, SW2=1.</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Descripción del Problema</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1234440"/>
          <a:ext cx="8595360" cy="3721608"/>
        </p:xfrm>
        <a:graphic>
          <a:graphicData uri="http://schemas.openxmlformats.org/drawingml/2006/table">
            <a:tbl>
              <a:tblPr/>
              <a:tblGrid>
                <a:gridCol w="2865120">
                  <a:extLst>
                    <a:ext uri="{9D8B030D-6E8A-4147-A177-3AD203B41FA5}">
                      <a16:colId xmlns:a16="http://schemas.microsoft.com/office/drawing/2014/main" val="20000"/>
                    </a:ext>
                  </a:extLst>
                </a:gridCol>
                <a:gridCol w="2865120">
                  <a:extLst>
                    <a:ext uri="{9D8B030D-6E8A-4147-A177-3AD203B41FA5}">
                      <a16:colId xmlns:a16="http://schemas.microsoft.com/office/drawing/2014/main" val="20001"/>
                    </a:ext>
                  </a:extLst>
                </a:gridCol>
                <a:gridCol w="2865120">
                  <a:extLst>
                    <a:ext uri="{9D8B030D-6E8A-4147-A177-3AD203B41FA5}">
                      <a16:colId xmlns:a16="http://schemas.microsoft.com/office/drawing/2014/main" val="20002"/>
                    </a:ext>
                  </a:extLst>
                </a:gridCol>
              </a:tblGrid>
              <a:tr h="338328">
                <a:tc>
                  <a:txBody>
                    <a:bodyPr/>
                    <a:lstStyle/>
                    <a:p>
                      <a:pPr marL="0" indent="0">
                        <a:buNone/>
                      </a:pPr>
                      <a:r>
                        <a:rPr lang="en-US" sz="1200" b="1" dirty="0">
                          <a:solidFill>
                            <a:srgbClr val="FFFFFF"/>
                          </a:solidFill>
                        </a:rPr>
                        <a:t>Estado Actual</a:t>
                      </a:r>
                      <a:endParaRPr lang="en-US" sz="12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A5C"/>
                    </a:solidFill>
                  </a:tcPr>
                </a:tc>
                <a:tc>
                  <a:txBody>
                    <a:bodyPr/>
                    <a:lstStyle/>
                    <a:p>
                      <a:pPr marL="0" indent="0">
                        <a:buNone/>
                      </a:pPr>
                      <a:r>
                        <a:rPr lang="en-US" sz="1200" b="1" dirty="0">
                          <a:solidFill>
                            <a:srgbClr val="FFFFFF"/>
                          </a:solidFill>
                        </a:rPr>
                        <a:t>Condición de Transición</a:t>
                      </a:r>
                      <a:endParaRPr lang="en-US" sz="12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A5C"/>
                    </a:solidFill>
                  </a:tcPr>
                </a:tc>
                <a:tc>
                  <a:txBody>
                    <a:bodyPr/>
                    <a:lstStyle/>
                    <a:p>
                      <a:pPr marL="0" indent="0">
                        <a:buNone/>
                      </a:pPr>
                      <a:r>
                        <a:rPr lang="en-US" sz="1200" b="1" dirty="0">
                          <a:solidFill>
                            <a:srgbClr val="FFFFFF"/>
                          </a:solidFill>
                        </a:rPr>
                        <a:t>Próximo Estado</a:t>
                      </a:r>
                      <a:endParaRPr lang="en-US" sz="12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338328">
                <a:tc>
                  <a:txBody>
                    <a:bodyPr/>
                    <a:lstStyle/>
                    <a:p>
                      <a:pPr marL="0" indent="0">
                        <a:buNone/>
                      </a:pPr>
                      <a:r>
                        <a:rPr lang="en-US" sz="1100" dirty="0">
                          <a:solidFill>
                            <a:srgbClr val="E8F4F8"/>
                          </a:solidFill>
                        </a:rPr>
                        <a:t>ABout</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S1=1 y S2=d  (Tren A llega primero)</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Ain</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extLst>
                  <a:ext uri="{0D108BD9-81ED-4DB2-BD59-A6C34878D82A}">
                    <a16:rowId xmlns:a16="http://schemas.microsoft.com/office/drawing/2014/main" val="10001"/>
                  </a:ext>
                </a:extLst>
              </a:tr>
              <a:tr h="338328">
                <a:tc>
                  <a:txBody>
                    <a:bodyPr/>
                    <a:lstStyle/>
                    <a:p>
                      <a:pPr marL="0" indent="0">
                        <a:buNone/>
                      </a:pPr>
                      <a:r>
                        <a:rPr lang="en-US" sz="1100" dirty="0">
                          <a:solidFill>
                            <a:srgbClr val="E8F4F8"/>
                          </a:solidFill>
                        </a:rPr>
                        <a:t>ABout</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S1=0 y S2=1  (Tren B llega primero)</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Bin</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extLst>
                  <a:ext uri="{0D108BD9-81ED-4DB2-BD59-A6C34878D82A}">
                    <a16:rowId xmlns:a16="http://schemas.microsoft.com/office/drawing/2014/main" val="10002"/>
                  </a:ext>
                </a:extLst>
              </a:tr>
              <a:tr h="338328">
                <a:tc>
                  <a:txBody>
                    <a:bodyPr/>
                    <a:lstStyle/>
                    <a:p>
                      <a:pPr marL="0" indent="0">
                        <a:buNone/>
                      </a:pPr>
                      <a:r>
                        <a:rPr lang="en-US" sz="1100" dirty="0">
                          <a:solidFill>
                            <a:srgbClr val="E8F4F8"/>
                          </a:solidFill>
                        </a:rPr>
                        <a:t>Ain</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S2=1 y S4=0  (A en vía común, B llega)</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Bstop</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extLst>
                  <a:ext uri="{0D108BD9-81ED-4DB2-BD59-A6C34878D82A}">
                    <a16:rowId xmlns:a16="http://schemas.microsoft.com/office/drawing/2014/main" val="10003"/>
                  </a:ext>
                </a:extLst>
              </a:tr>
              <a:tr h="338328">
                <a:tc>
                  <a:txBody>
                    <a:bodyPr/>
                    <a:lstStyle/>
                    <a:p>
                      <a:pPr marL="0" indent="0">
                        <a:buNone/>
                      </a:pPr>
                      <a:r>
                        <a:rPr lang="en-US" sz="1100" dirty="0">
                          <a:solidFill>
                            <a:srgbClr val="E8F4F8"/>
                          </a:solidFill>
                        </a:rPr>
                        <a:t>Ain</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S2=d y S4=1  (A salió de vía común)</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ABout</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extLst>
                  <a:ext uri="{0D108BD9-81ED-4DB2-BD59-A6C34878D82A}">
                    <a16:rowId xmlns:a16="http://schemas.microsoft.com/office/drawing/2014/main" val="10004"/>
                  </a:ext>
                </a:extLst>
              </a:tr>
              <a:tr h="338328">
                <a:tc>
                  <a:txBody>
                    <a:bodyPr/>
                    <a:lstStyle/>
                    <a:p>
                      <a:pPr marL="0" indent="0">
                        <a:buNone/>
                      </a:pPr>
                      <a:r>
                        <a:rPr lang="en-US" sz="1100" dirty="0">
                          <a:solidFill>
                            <a:srgbClr val="E8F4F8"/>
                          </a:solidFill>
                        </a:rPr>
                        <a:t>Bin</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S1=1 y S3=0  (B en vía común, A llega)</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Astop</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extLst>
                  <a:ext uri="{0D108BD9-81ED-4DB2-BD59-A6C34878D82A}">
                    <a16:rowId xmlns:a16="http://schemas.microsoft.com/office/drawing/2014/main" val="10005"/>
                  </a:ext>
                </a:extLst>
              </a:tr>
              <a:tr h="338328">
                <a:tc>
                  <a:txBody>
                    <a:bodyPr/>
                    <a:lstStyle/>
                    <a:p>
                      <a:pPr marL="0" indent="0">
                        <a:buNone/>
                      </a:pPr>
                      <a:r>
                        <a:rPr lang="en-US" sz="1100" dirty="0">
                          <a:solidFill>
                            <a:srgbClr val="E8F4F8"/>
                          </a:solidFill>
                        </a:rPr>
                        <a:t>Bin</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S1=d y S3=1  (B salió de vía común)</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ABout</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extLst>
                  <a:ext uri="{0D108BD9-81ED-4DB2-BD59-A6C34878D82A}">
                    <a16:rowId xmlns:a16="http://schemas.microsoft.com/office/drawing/2014/main" val="10006"/>
                  </a:ext>
                </a:extLst>
              </a:tr>
              <a:tr h="338328">
                <a:tc>
                  <a:txBody>
                    <a:bodyPr/>
                    <a:lstStyle/>
                    <a:p>
                      <a:pPr marL="0" indent="0">
                        <a:buNone/>
                      </a:pPr>
                      <a:r>
                        <a:rPr lang="en-US" sz="1100" dirty="0">
                          <a:solidFill>
                            <a:srgbClr val="E8F4F8"/>
                          </a:solidFill>
                        </a:rPr>
                        <a:t>Bstop</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S4=0  (vía común ocupada)</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Bstop (permanece)</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extLst>
                  <a:ext uri="{0D108BD9-81ED-4DB2-BD59-A6C34878D82A}">
                    <a16:rowId xmlns:a16="http://schemas.microsoft.com/office/drawing/2014/main" val="10007"/>
                  </a:ext>
                </a:extLst>
              </a:tr>
              <a:tr h="338328">
                <a:tc>
                  <a:txBody>
                    <a:bodyPr/>
                    <a:lstStyle/>
                    <a:p>
                      <a:pPr marL="0" indent="0">
                        <a:buNone/>
                      </a:pPr>
                      <a:r>
                        <a:rPr lang="en-US" sz="1100" dirty="0">
                          <a:solidFill>
                            <a:srgbClr val="E8F4F8"/>
                          </a:solidFill>
                        </a:rPr>
                        <a:t>Bstop</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S4=1  (vía común despejada)</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ABout</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extLst>
                  <a:ext uri="{0D108BD9-81ED-4DB2-BD59-A6C34878D82A}">
                    <a16:rowId xmlns:a16="http://schemas.microsoft.com/office/drawing/2014/main" val="10008"/>
                  </a:ext>
                </a:extLst>
              </a:tr>
              <a:tr h="338328">
                <a:tc>
                  <a:txBody>
                    <a:bodyPr/>
                    <a:lstStyle/>
                    <a:p>
                      <a:pPr marL="0" indent="0">
                        <a:buNone/>
                      </a:pPr>
                      <a:r>
                        <a:rPr lang="en-US" sz="1100" dirty="0">
                          <a:solidFill>
                            <a:srgbClr val="E8F4F8"/>
                          </a:solidFill>
                        </a:rPr>
                        <a:t>Astop</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S3=0  (vía común ocupada)</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Astop (permanece)</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extLst>
                  <a:ext uri="{0D108BD9-81ED-4DB2-BD59-A6C34878D82A}">
                    <a16:rowId xmlns:a16="http://schemas.microsoft.com/office/drawing/2014/main" val="10009"/>
                  </a:ext>
                </a:extLst>
              </a:tr>
              <a:tr h="338328">
                <a:tc>
                  <a:txBody>
                    <a:bodyPr/>
                    <a:lstStyle/>
                    <a:p>
                      <a:pPr marL="0" indent="0">
                        <a:buNone/>
                      </a:pPr>
                      <a:r>
                        <a:rPr lang="en-US" sz="1100" dirty="0">
                          <a:solidFill>
                            <a:srgbClr val="E8F4F8"/>
                          </a:solidFill>
                        </a:rPr>
                        <a:t>Astop</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S3=1  (vía común despejada)</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tc>
                  <a:txBody>
                    <a:bodyPr/>
                    <a:lstStyle/>
                    <a:p>
                      <a:pPr marL="0" indent="0">
                        <a:buNone/>
                      </a:pPr>
                      <a:r>
                        <a:rPr lang="en-US" sz="1100" dirty="0">
                          <a:solidFill>
                            <a:srgbClr val="E8F4F8"/>
                          </a:solidFill>
                        </a:rPr>
                        <a:t>ABout</a:t>
                      </a:r>
                      <a:endParaRPr lang="en-US" sz="1100" dirty="0"/>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6253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Código VHDL Desarrollado</a:t>
            </a:r>
            <a:endParaRPr lang="en-US" sz="2200" dirty="0"/>
          </a:p>
        </p:txBody>
      </p:sp>
      <p:sp>
        <p:nvSpPr>
          <p:cNvPr id="6" name="Shape 4"/>
          <p:cNvSpPr/>
          <p:nvPr/>
        </p:nvSpPr>
        <p:spPr>
          <a:xfrm>
            <a:off x="274320" y="1234440"/>
            <a:ext cx="8595360" cy="356616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7" name="Text 5"/>
          <p:cNvSpPr/>
          <p:nvPr/>
        </p:nvSpPr>
        <p:spPr>
          <a:xfrm>
            <a:off x="502920" y="1371600"/>
            <a:ext cx="8046720" cy="320040"/>
          </a:xfrm>
          <a:prstGeom prst="rect">
            <a:avLst/>
          </a:prstGeom>
          <a:noFill/>
          <a:ln/>
        </p:spPr>
        <p:txBody>
          <a:bodyPr wrap="square" lIns="0" tIns="0" rIns="0" bIns="0" rtlCol="0" anchor="ctr"/>
          <a:lstStyle/>
          <a:p>
            <a:pPr marL="0" indent="0">
              <a:buNone/>
            </a:pPr>
            <a:r>
              <a:rPr lang="en-US" sz="1400" b="1" dirty="0">
                <a:solidFill>
                  <a:srgbClr val="22D3EE"/>
                </a:solidFill>
              </a:rPr>
              <a:t>Estructura del Código</a:t>
            </a:r>
            <a:endParaRPr lang="en-US" sz="1400" dirty="0"/>
          </a:p>
        </p:txBody>
      </p:sp>
      <p:sp>
        <p:nvSpPr>
          <p:cNvPr id="8" name="Text 6"/>
          <p:cNvSpPr/>
          <p:nvPr/>
        </p:nvSpPr>
        <p:spPr>
          <a:xfrm>
            <a:off x="457200" y="1737360"/>
            <a:ext cx="8229600" cy="2926080"/>
          </a:xfrm>
          <a:prstGeom prst="rect">
            <a:avLst/>
          </a:prstGeom>
          <a:noFill/>
          <a:ln/>
        </p:spPr>
        <p:txBody>
          <a:bodyPr wrap="square" lIns="0" tIns="0" rIns="0" bIns="0" rtlCol="0" anchor="t"/>
          <a:lstStyle/>
          <a:p>
            <a:r>
              <a:rPr lang="en-US" sz="1000" dirty="0">
                <a:solidFill>
                  <a:schemeClr val="bg1"/>
                </a:solidFill>
                <a:latin typeface="Consolas" pitchFamily="34" charset="0"/>
                <a:ea typeface="Consolas" pitchFamily="34" charset="-122"/>
                <a:cs typeface="Consolas" pitchFamily="34" charset="-120"/>
              </a:rPr>
              <a:t>LIBRARY IEEE;</a:t>
            </a:r>
          </a:p>
          <a:p>
            <a:endParaRPr lang="en-US" sz="1000" dirty="0">
              <a:solidFill>
                <a:schemeClr val="bg1"/>
              </a:solidFill>
              <a:latin typeface="Consolas" pitchFamily="34" charset="0"/>
              <a:ea typeface="Consolas" pitchFamily="34" charset="-122"/>
              <a:cs typeface="Consolas" pitchFamily="34" charset="-120"/>
            </a:endParaRPr>
          </a:p>
          <a:p>
            <a:r>
              <a:rPr lang="en-US" sz="1000" dirty="0">
                <a:solidFill>
                  <a:schemeClr val="bg1"/>
                </a:solidFill>
                <a:latin typeface="Consolas" pitchFamily="34" charset="0"/>
                <a:ea typeface="Consolas" pitchFamily="34" charset="-122"/>
                <a:cs typeface="Consolas" pitchFamily="34" charset="-120"/>
              </a:rPr>
              <a:t>USE IEEE.STD_LOGIC_1164.ALL;</a:t>
            </a:r>
          </a:p>
          <a:p>
            <a:r>
              <a:rPr lang="en-US" sz="1000" dirty="0">
                <a:solidFill>
                  <a:schemeClr val="bg1"/>
                </a:solidFill>
                <a:latin typeface="Consolas" pitchFamily="34" charset="0"/>
                <a:ea typeface="Consolas" pitchFamily="34" charset="-122"/>
                <a:cs typeface="Consolas" pitchFamily="34" charset="-120"/>
              </a:rPr>
              <a:t>USE IEEE.STD_LOGIC_ARITH.ALL;</a:t>
            </a:r>
          </a:p>
          <a:p>
            <a:r>
              <a:rPr lang="en-US" sz="1000" dirty="0">
                <a:solidFill>
                  <a:schemeClr val="bg1"/>
                </a:solidFill>
                <a:latin typeface="Consolas" pitchFamily="34" charset="0"/>
                <a:ea typeface="Consolas" pitchFamily="34" charset="-122"/>
                <a:cs typeface="Consolas" pitchFamily="34" charset="-120"/>
              </a:rPr>
              <a:t>USE IEEE.STD_LOGIC_UNSIGNED.ALL;</a:t>
            </a:r>
          </a:p>
          <a:p>
            <a:endParaRPr lang="en-US" sz="1000" dirty="0">
              <a:solidFill>
                <a:schemeClr val="bg1"/>
              </a:solidFill>
              <a:latin typeface="Consolas" pitchFamily="34" charset="0"/>
              <a:ea typeface="Consolas" pitchFamily="34" charset="-122"/>
              <a:cs typeface="Consolas" pitchFamily="34" charset="-120"/>
            </a:endParaRPr>
          </a:p>
          <a:p>
            <a:r>
              <a:rPr lang="en-US" sz="1000" dirty="0">
                <a:solidFill>
                  <a:schemeClr val="bg1"/>
                </a:solidFill>
                <a:latin typeface="Consolas" pitchFamily="34" charset="0"/>
                <a:ea typeface="Consolas" pitchFamily="34" charset="-122"/>
                <a:cs typeface="Consolas" pitchFamily="34" charset="-120"/>
              </a:rPr>
              <a:t>ENTITY </a:t>
            </a:r>
            <a:r>
              <a:rPr lang="en-US" sz="1000" dirty="0" err="1">
                <a:solidFill>
                  <a:schemeClr val="bg1"/>
                </a:solidFill>
                <a:latin typeface="Consolas" pitchFamily="34" charset="0"/>
                <a:ea typeface="Consolas" pitchFamily="34" charset="-122"/>
                <a:cs typeface="Consolas" pitchFamily="34" charset="-120"/>
              </a:rPr>
              <a:t>Tcontrol</a:t>
            </a:r>
            <a:r>
              <a:rPr lang="en-US" sz="1000" dirty="0">
                <a:solidFill>
                  <a:schemeClr val="bg1"/>
                </a:solidFill>
                <a:latin typeface="Consolas" pitchFamily="34" charset="0"/>
                <a:ea typeface="Consolas" pitchFamily="34" charset="-122"/>
                <a:cs typeface="Consolas" pitchFamily="34" charset="-120"/>
              </a:rPr>
              <a:t> IS</a:t>
            </a:r>
          </a:p>
          <a:p>
            <a:r>
              <a:rPr lang="en-US" sz="1000" dirty="0">
                <a:solidFill>
                  <a:schemeClr val="bg1"/>
                </a:solidFill>
                <a:latin typeface="Consolas" pitchFamily="34" charset="0"/>
                <a:ea typeface="Consolas" pitchFamily="34" charset="-122"/>
                <a:cs typeface="Consolas" pitchFamily="34" charset="-120"/>
              </a:rPr>
              <a:t>PORT(</a:t>
            </a:r>
          </a:p>
          <a:p>
            <a:r>
              <a:rPr lang="en-US" sz="1000" dirty="0">
                <a:solidFill>
                  <a:schemeClr val="bg1"/>
                </a:solidFill>
                <a:latin typeface="Consolas" pitchFamily="34" charset="0"/>
                <a:ea typeface="Consolas" pitchFamily="34" charset="-122"/>
                <a:cs typeface="Consolas" pitchFamily="34" charset="-120"/>
              </a:rPr>
              <a:t>    reset, clock, sensor1, sensor2, sensor3, sensor4, sensor5 : IN STD_LOGIC;</a:t>
            </a:r>
          </a:p>
          <a:p>
            <a:r>
              <a:rPr lang="en-US" sz="1000" dirty="0">
                <a:solidFill>
                  <a:schemeClr val="bg1"/>
                </a:solidFill>
                <a:latin typeface="Consolas" pitchFamily="34" charset="0"/>
                <a:ea typeface="Consolas" pitchFamily="34" charset="-122"/>
                <a:cs typeface="Consolas" pitchFamily="34" charset="-120"/>
              </a:rPr>
              <a:t>    switch1, switch2, switch3 : OUT STD_LOGIC;</a:t>
            </a:r>
          </a:p>
          <a:p>
            <a:r>
              <a:rPr lang="en-US" sz="1000" dirty="0">
                <a:solidFill>
                  <a:schemeClr val="bg1"/>
                </a:solidFill>
                <a:latin typeface="Consolas" pitchFamily="34" charset="0"/>
                <a:ea typeface="Consolas" pitchFamily="34" charset="-122"/>
                <a:cs typeface="Consolas" pitchFamily="34" charset="-120"/>
              </a:rPr>
              <a:t>    </a:t>
            </a:r>
            <a:r>
              <a:rPr lang="en-US" sz="1000" dirty="0" err="1">
                <a:solidFill>
                  <a:schemeClr val="bg1"/>
                </a:solidFill>
                <a:latin typeface="Consolas" pitchFamily="34" charset="0"/>
                <a:ea typeface="Consolas" pitchFamily="34" charset="-122"/>
                <a:cs typeface="Consolas" pitchFamily="34" charset="-120"/>
              </a:rPr>
              <a:t>dirA</a:t>
            </a:r>
            <a:r>
              <a:rPr lang="en-US" sz="1000" dirty="0">
                <a:solidFill>
                  <a:schemeClr val="bg1"/>
                </a:solidFill>
                <a:latin typeface="Consolas" pitchFamily="34" charset="0"/>
                <a:ea typeface="Consolas" pitchFamily="34" charset="-122"/>
                <a:cs typeface="Consolas" pitchFamily="34" charset="-120"/>
              </a:rPr>
              <a:t>, </a:t>
            </a:r>
            <a:r>
              <a:rPr lang="en-US" sz="1000" dirty="0" err="1">
                <a:solidFill>
                  <a:schemeClr val="bg1"/>
                </a:solidFill>
                <a:latin typeface="Consolas" pitchFamily="34" charset="0"/>
                <a:ea typeface="Consolas" pitchFamily="34" charset="-122"/>
                <a:cs typeface="Consolas" pitchFamily="34" charset="-120"/>
              </a:rPr>
              <a:t>dirB</a:t>
            </a:r>
            <a:r>
              <a:rPr lang="en-US" sz="1000" dirty="0">
                <a:solidFill>
                  <a:schemeClr val="bg1"/>
                </a:solidFill>
                <a:latin typeface="Consolas" pitchFamily="34" charset="0"/>
                <a:ea typeface="Consolas" pitchFamily="34" charset="-122"/>
                <a:cs typeface="Consolas" pitchFamily="34" charset="-120"/>
              </a:rPr>
              <a:t> : OUT STD_LOGIC_VECTOR(1 DOWNTO 0)</a:t>
            </a:r>
          </a:p>
          <a:p>
            <a:r>
              <a:rPr lang="en-US" sz="1000" dirty="0">
                <a:solidFill>
                  <a:schemeClr val="bg1"/>
                </a:solidFill>
                <a:latin typeface="Consolas" pitchFamily="34" charset="0"/>
                <a:ea typeface="Consolas" pitchFamily="34" charset="-122"/>
                <a:cs typeface="Consolas" pitchFamily="34" charset="-120"/>
              </a:rPr>
              <a:t>);</a:t>
            </a:r>
          </a:p>
          <a:p>
            <a:r>
              <a:rPr lang="en-US" sz="1000" dirty="0">
                <a:solidFill>
                  <a:schemeClr val="bg1"/>
                </a:solidFill>
                <a:latin typeface="Consolas" pitchFamily="34" charset="0"/>
                <a:ea typeface="Consolas" pitchFamily="34" charset="-122"/>
                <a:cs typeface="Consolas" pitchFamily="34" charset="-120"/>
              </a:rPr>
              <a:t>END </a:t>
            </a:r>
            <a:r>
              <a:rPr lang="en-US" sz="1000" dirty="0" err="1">
                <a:solidFill>
                  <a:schemeClr val="bg1"/>
                </a:solidFill>
                <a:latin typeface="Consolas" pitchFamily="34" charset="0"/>
                <a:ea typeface="Consolas" pitchFamily="34" charset="-122"/>
                <a:cs typeface="Consolas" pitchFamily="34" charset="-120"/>
              </a:rPr>
              <a:t>Tcontrol</a:t>
            </a:r>
            <a:r>
              <a:rPr lang="en-US" sz="1000" dirty="0">
                <a:solidFill>
                  <a:schemeClr val="bg1"/>
                </a:solidFill>
                <a:latin typeface="Consolas" pitchFamily="34" charset="0"/>
                <a:ea typeface="Consolas" pitchFamily="34" charset="-122"/>
                <a:cs typeface="Consolas" pitchFamily="34" charset="-120"/>
              </a:rPr>
              <a:t>;</a:t>
            </a:r>
          </a:p>
          <a:p>
            <a:endParaRPr lang="en-US" sz="1000" dirty="0">
              <a:solidFill>
                <a:schemeClr val="bg1"/>
              </a:solidFill>
              <a:latin typeface="Consolas" pitchFamily="34" charset="0"/>
              <a:ea typeface="Consolas" pitchFamily="34" charset="-122"/>
              <a:cs typeface="Consolas" pitchFamily="34" charset="-120"/>
            </a:endParaRPr>
          </a:p>
          <a:p>
            <a:r>
              <a:rPr lang="en-US" sz="1000" dirty="0">
                <a:solidFill>
                  <a:schemeClr val="bg1"/>
                </a:solidFill>
                <a:latin typeface="Consolas" pitchFamily="34" charset="0"/>
                <a:ea typeface="Consolas" pitchFamily="34" charset="-122"/>
                <a:cs typeface="Consolas" pitchFamily="34" charset="-120"/>
              </a:rPr>
              <a:t>ARCHITECTURE a OF </a:t>
            </a:r>
            <a:r>
              <a:rPr lang="en-US" sz="1000" dirty="0" err="1">
                <a:solidFill>
                  <a:schemeClr val="bg1"/>
                </a:solidFill>
                <a:latin typeface="Consolas" pitchFamily="34" charset="0"/>
                <a:ea typeface="Consolas" pitchFamily="34" charset="-122"/>
                <a:cs typeface="Consolas" pitchFamily="34" charset="-120"/>
              </a:rPr>
              <a:t>Tcontrol</a:t>
            </a:r>
            <a:r>
              <a:rPr lang="en-US" sz="1000" dirty="0">
                <a:solidFill>
                  <a:schemeClr val="bg1"/>
                </a:solidFill>
                <a:latin typeface="Consolas" pitchFamily="34" charset="0"/>
                <a:ea typeface="Consolas" pitchFamily="34" charset="-122"/>
                <a:cs typeface="Consolas" pitchFamily="34" charset="-120"/>
              </a:rPr>
              <a:t> IS</a:t>
            </a:r>
          </a:p>
          <a:p>
            <a:endParaRPr lang="en-US" sz="1000"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TYPE STATE_TYPE IS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 Ain, Bin, </a:t>
            </a:r>
            <a:r>
              <a:rPr lang="en-US" sz="1000" i="1" dirty="0" err="1">
                <a:solidFill>
                  <a:schemeClr val="bg1"/>
                </a:solidFill>
                <a:latin typeface="Consolas" pitchFamily="34" charset="0"/>
                <a:ea typeface="Consolas" pitchFamily="34" charset="-122"/>
                <a:cs typeface="Consolas" pitchFamily="34" charset="-120"/>
              </a:rPr>
              <a:t>Astop</a:t>
            </a:r>
            <a:r>
              <a:rPr lang="en-US" sz="1000" i="1" dirty="0">
                <a:solidFill>
                  <a:schemeClr val="bg1"/>
                </a:solidFill>
                <a:latin typeface="Consolas" pitchFamily="34" charset="0"/>
                <a:ea typeface="Consolas" pitchFamily="34" charset="-122"/>
                <a:cs typeface="Consolas" pitchFamily="34" charset="-120"/>
              </a:rPr>
              <a:t>, </a:t>
            </a:r>
            <a:r>
              <a:rPr lang="en-US" sz="1000" i="1" dirty="0" err="1">
                <a:solidFill>
                  <a:schemeClr val="bg1"/>
                </a:solidFill>
                <a:latin typeface="Consolas" pitchFamily="34" charset="0"/>
                <a:ea typeface="Consolas" pitchFamily="34" charset="-122"/>
                <a:cs typeface="Consolas" pitchFamily="34" charset="-120"/>
              </a:rPr>
              <a:t>Bstop</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SIGNAL state : STATE_TYPE;</a:t>
            </a:r>
          </a:p>
          <a:p>
            <a:r>
              <a:rPr lang="en-US" sz="1000" i="1" dirty="0">
                <a:solidFill>
                  <a:schemeClr val="bg1"/>
                </a:solidFill>
                <a:latin typeface="Consolas" pitchFamily="34" charset="0"/>
                <a:ea typeface="Consolas" pitchFamily="34" charset="-122"/>
                <a:cs typeface="Consolas" pitchFamily="34" charset="-120"/>
              </a:rPr>
              <a:t>SIGNAL sensor12, sensor13, sensor24 : STD_LOGIC_VECTOR(1 DOWNTO 0);</a:t>
            </a:r>
          </a:p>
          <a:p>
            <a:endParaRPr lang="en-US" sz="105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Código VHDL — Lógica Combinacional</a:t>
            </a:r>
            <a:endParaRPr lang="en-US" sz="2200" dirty="0"/>
          </a:p>
        </p:txBody>
      </p:sp>
      <p:sp>
        <p:nvSpPr>
          <p:cNvPr id="6" name="Shape 4"/>
          <p:cNvSpPr/>
          <p:nvPr/>
        </p:nvSpPr>
        <p:spPr>
          <a:xfrm>
            <a:off x="274320" y="1234440"/>
            <a:ext cx="8595360" cy="356616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7" name="Text 5"/>
          <p:cNvSpPr/>
          <p:nvPr/>
        </p:nvSpPr>
        <p:spPr>
          <a:xfrm>
            <a:off x="457200" y="1325880"/>
            <a:ext cx="8229600" cy="3383280"/>
          </a:xfrm>
          <a:prstGeom prst="rect">
            <a:avLst/>
          </a:prstGeom>
          <a:noFill/>
          <a:ln/>
        </p:spPr>
        <p:txBody>
          <a:bodyPr wrap="square" lIns="0" tIns="0" rIns="0" bIns="0" rtlCol="0" anchor="t"/>
          <a:lstStyle/>
          <a:p>
            <a:r>
              <a:rPr lang="en-US" sz="1000" i="1" dirty="0">
                <a:solidFill>
                  <a:schemeClr val="bg1"/>
                </a:solidFill>
                <a:latin typeface="Consolas" pitchFamily="34" charset="0"/>
                <a:ea typeface="Consolas" pitchFamily="34" charset="-122"/>
                <a:cs typeface="Consolas" pitchFamily="34" charset="-120"/>
              </a:rPr>
              <a:t>BEGIN</a:t>
            </a:r>
          </a:p>
          <a:p>
            <a:endParaRPr lang="en-US" sz="1000" i="1"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PROCESS(reset, clock)</a:t>
            </a:r>
          </a:p>
          <a:p>
            <a:r>
              <a:rPr lang="en-US" sz="1000" i="1" dirty="0">
                <a:solidFill>
                  <a:schemeClr val="bg1"/>
                </a:solidFill>
                <a:latin typeface="Consolas" pitchFamily="34" charset="0"/>
                <a:ea typeface="Consolas" pitchFamily="34" charset="-122"/>
                <a:cs typeface="Consolas" pitchFamily="34" charset="-120"/>
              </a:rPr>
              <a:t>BEGIN</a:t>
            </a:r>
          </a:p>
          <a:p>
            <a:r>
              <a:rPr lang="en-US" sz="1000" i="1" dirty="0">
                <a:solidFill>
                  <a:schemeClr val="bg1"/>
                </a:solidFill>
                <a:latin typeface="Consolas" pitchFamily="34" charset="0"/>
                <a:ea typeface="Consolas" pitchFamily="34" charset="-122"/>
                <a:cs typeface="Consolas" pitchFamily="34" charset="-120"/>
              </a:rPr>
              <a:t>    IF reset = '1' THEN</a:t>
            </a:r>
          </a:p>
          <a:p>
            <a:r>
              <a:rPr lang="en-US" sz="1000" i="1" dirty="0">
                <a:solidFill>
                  <a:schemeClr val="bg1"/>
                </a:solidFill>
                <a:latin typeface="Consolas" pitchFamily="34" charset="0"/>
                <a:ea typeface="Consolas" pitchFamily="34" charset="-122"/>
                <a:cs typeface="Consolas" pitchFamily="34" charset="-120"/>
              </a:rPr>
              <a:t>        state &lt;=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a:t>
            </a:r>
          </a:p>
          <a:p>
            <a:endParaRPr lang="en-US" sz="1000" i="1"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    ELSIF </a:t>
            </a:r>
            <a:r>
              <a:rPr lang="en-US" sz="1000" i="1" dirty="0" err="1">
                <a:solidFill>
                  <a:schemeClr val="bg1"/>
                </a:solidFill>
                <a:latin typeface="Consolas" pitchFamily="34" charset="0"/>
                <a:ea typeface="Consolas" pitchFamily="34" charset="-122"/>
                <a:cs typeface="Consolas" pitchFamily="34" charset="-120"/>
              </a:rPr>
              <a:t>clock'EVENT</a:t>
            </a:r>
            <a:r>
              <a:rPr lang="en-US" sz="1000" i="1" dirty="0">
                <a:solidFill>
                  <a:schemeClr val="bg1"/>
                </a:solidFill>
                <a:latin typeface="Consolas" pitchFamily="34" charset="0"/>
                <a:ea typeface="Consolas" pitchFamily="34" charset="-122"/>
                <a:cs typeface="Consolas" pitchFamily="34" charset="-120"/>
              </a:rPr>
              <a:t> AND clock = '1' THEN</a:t>
            </a:r>
          </a:p>
          <a:p>
            <a:r>
              <a:rPr lang="en-US" sz="1000" i="1" dirty="0">
                <a:solidFill>
                  <a:schemeClr val="bg1"/>
                </a:solidFill>
                <a:latin typeface="Consolas" pitchFamily="34" charset="0"/>
                <a:ea typeface="Consolas" pitchFamily="34" charset="-122"/>
                <a:cs typeface="Consolas" pitchFamily="34" charset="-120"/>
              </a:rPr>
              <a:t>        CASE state IS</a:t>
            </a:r>
          </a:p>
          <a:p>
            <a:endParaRPr lang="en-US" sz="1000" i="1"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            WHEN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 =&gt;</a:t>
            </a:r>
          </a:p>
          <a:p>
            <a:r>
              <a:rPr lang="en-US" sz="1000" i="1" dirty="0">
                <a:solidFill>
                  <a:schemeClr val="bg1"/>
                </a:solidFill>
                <a:latin typeface="Consolas" pitchFamily="34" charset="0"/>
                <a:ea typeface="Consolas" pitchFamily="34" charset="-122"/>
                <a:cs typeface="Consolas" pitchFamily="34" charset="-120"/>
              </a:rPr>
              <a:t>                CASE sensor12 IS</a:t>
            </a:r>
          </a:p>
          <a:p>
            <a:r>
              <a:rPr lang="en-US" sz="1000" i="1" dirty="0">
                <a:solidFill>
                  <a:schemeClr val="bg1"/>
                </a:solidFill>
                <a:latin typeface="Consolas" pitchFamily="34" charset="0"/>
                <a:ea typeface="Consolas" pitchFamily="34" charset="-122"/>
                <a:cs typeface="Consolas" pitchFamily="34" charset="-120"/>
              </a:rPr>
              <a:t>                    WHEN "00" =&gt; state &lt;=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WHEN "01" =&gt; state &lt;= Bin;</a:t>
            </a:r>
          </a:p>
          <a:p>
            <a:r>
              <a:rPr lang="en-US" sz="1000" i="1" dirty="0">
                <a:solidFill>
                  <a:schemeClr val="bg1"/>
                </a:solidFill>
                <a:latin typeface="Consolas" pitchFamily="34" charset="0"/>
                <a:ea typeface="Consolas" pitchFamily="34" charset="-122"/>
                <a:cs typeface="Consolas" pitchFamily="34" charset="-120"/>
              </a:rPr>
              <a:t>                    WHEN "10" =&gt; state &lt;= Ain;</a:t>
            </a:r>
          </a:p>
          <a:p>
            <a:r>
              <a:rPr lang="en-US" sz="1000" i="1" dirty="0">
                <a:solidFill>
                  <a:schemeClr val="bg1"/>
                </a:solidFill>
                <a:latin typeface="Consolas" pitchFamily="34" charset="0"/>
                <a:ea typeface="Consolas" pitchFamily="34" charset="-122"/>
                <a:cs typeface="Consolas" pitchFamily="34" charset="-120"/>
              </a:rPr>
              <a:t>                    WHEN "11" =&gt; state &lt;= Ain;</a:t>
            </a:r>
          </a:p>
          <a:p>
            <a:r>
              <a:rPr lang="en-US" sz="1000" i="1" dirty="0">
                <a:solidFill>
                  <a:schemeClr val="bg1"/>
                </a:solidFill>
                <a:latin typeface="Consolas" pitchFamily="34" charset="0"/>
                <a:ea typeface="Consolas" pitchFamily="34" charset="-122"/>
                <a:cs typeface="Consolas" pitchFamily="34" charset="-120"/>
              </a:rPr>
              <a:t>                    WHEN OTHERS =&gt; state &lt;=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END CASE;</a:t>
            </a:r>
          </a:p>
          <a:p>
            <a:endParaRPr lang="en-US" sz="1000" i="1"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            WHEN Ain =&gt;</a:t>
            </a:r>
          </a:p>
          <a:p>
            <a:r>
              <a:rPr lang="en-US" sz="1000" i="1" dirty="0">
                <a:solidFill>
                  <a:schemeClr val="bg1"/>
                </a:solidFill>
                <a:latin typeface="Consolas" pitchFamily="34" charset="0"/>
                <a:ea typeface="Consolas" pitchFamily="34" charset="-122"/>
                <a:cs typeface="Consolas" pitchFamily="34" charset="-120"/>
              </a:rPr>
              <a:t>                CASE sensor24 IS</a:t>
            </a:r>
          </a:p>
          <a:p>
            <a:r>
              <a:rPr lang="en-US" sz="1000" i="1" dirty="0">
                <a:solidFill>
                  <a:schemeClr val="bg1"/>
                </a:solidFill>
                <a:latin typeface="Consolas" pitchFamily="34" charset="0"/>
                <a:ea typeface="Consolas" pitchFamily="34" charset="-122"/>
                <a:cs typeface="Consolas" pitchFamily="34" charset="-120"/>
              </a:rPr>
              <a:t>                    WHEN "00" =&gt; state &lt;= Ain;</a:t>
            </a:r>
          </a:p>
          <a:p>
            <a:r>
              <a:rPr lang="en-US" sz="1000" i="1" dirty="0">
                <a:solidFill>
                  <a:schemeClr val="bg1"/>
                </a:solidFill>
                <a:latin typeface="Consolas" pitchFamily="34" charset="0"/>
                <a:ea typeface="Consolas" pitchFamily="34" charset="-122"/>
                <a:cs typeface="Consolas" pitchFamily="34" charset="-120"/>
              </a:rPr>
              <a:t>                    </a:t>
            </a:r>
            <a:endParaRPr lang="en-US" sz="105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5AE5D8A1-D2B8-6103-FE88-0A0B086D27C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ED40070-737C-2036-AE78-47A19E2EE0DB}"/>
              </a:ext>
            </a:extLst>
          </p:cNvPr>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a:extLst>
              <a:ext uri="{FF2B5EF4-FFF2-40B4-BE49-F238E27FC236}">
                <a16:creationId xmlns:a16="http://schemas.microsoft.com/office/drawing/2014/main" id="{29486D91-28EF-00DA-B05A-6C142E724800}"/>
              </a:ext>
            </a:extLst>
          </p:cNvPr>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a:extLst>
              <a:ext uri="{FF2B5EF4-FFF2-40B4-BE49-F238E27FC236}">
                <a16:creationId xmlns:a16="http://schemas.microsoft.com/office/drawing/2014/main" id="{B3CFEDB0-AF4E-EC79-FDFE-6D2D1A0B7F6A}"/>
              </a:ext>
            </a:extLst>
          </p:cNvPr>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Código VHDL — Lógica Combinacional</a:t>
            </a:r>
            <a:endParaRPr lang="en-US" sz="2200" dirty="0"/>
          </a:p>
        </p:txBody>
      </p:sp>
      <p:sp>
        <p:nvSpPr>
          <p:cNvPr id="6" name="Shape 4">
            <a:extLst>
              <a:ext uri="{FF2B5EF4-FFF2-40B4-BE49-F238E27FC236}">
                <a16:creationId xmlns:a16="http://schemas.microsoft.com/office/drawing/2014/main" id="{43EEB009-AFE7-E1EC-4D18-2A2D50DB0242}"/>
              </a:ext>
            </a:extLst>
          </p:cNvPr>
          <p:cNvSpPr/>
          <p:nvPr/>
        </p:nvSpPr>
        <p:spPr>
          <a:xfrm>
            <a:off x="274320" y="1234440"/>
            <a:ext cx="8595360" cy="356616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7" name="Text 5">
            <a:extLst>
              <a:ext uri="{FF2B5EF4-FFF2-40B4-BE49-F238E27FC236}">
                <a16:creationId xmlns:a16="http://schemas.microsoft.com/office/drawing/2014/main" id="{9F3CD749-14BB-85AC-DB23-441D7BF6E468}"/>
              </a:ext>
            </a:extLst>
          </p:cNvPr>
          <p:cNvSpPr/>
          <p:nvPr/>
        </p:nvSpPr>
        <p:spPr>
          <a:xfrm>
            <a:off x="457200" y="1325880"/>
            <a:ext cx="8229600" cy="3383280"/>
          </a:xfrm>
          <a:prstGeom prst="rect">
            <a:avLst/>
          </a:prstGeom>
          <a:noFill/>
          <a:ln/>
        </p:spPr>
        <p:txBody>
          <a:bodyPr wrap="square" lIns="0" tIns="0" rIns="0" bIns="0" rtlCol="0" anchor="t"/>
          <a:lstStyle/>
          <a:p>
            <a:r>
              <a:rPr lang="en-US" sz="1000" i="1" dirty="0">
                <a:solidFill>
                  <a:schemeClr val="bg1"/>
                </a:solidFill>
                <a:latin typeface="Consolas" pitchFamily="34" charset="0"/>
                <a:ea typeface="Consolas" pitchFamily="34" charset="-122"/>
                <a:cs typeface="Consolas" pitchFamily="34" charset="-120"/>
              </a:rPr>
              <a:t>	       WHEN "01" =&gt; state &lt;=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WHEN "10" =&gt; state &lt;= </a:t>
            </a:r>
            <a:r>
              <a:rPr lang="en-US" sz="1000" i="1" dirty="0" err="1">
                <a:solidFill>
                  <a:schemeClr val="bg1"/>
                </a:solidFill>
                <a:latin typeface="Consolas" pitchFamily="34" charset="0"/>
                <a:ea typeface="Consolas" pitchFamily="34" charset="-122"/>
                <a:cs typeface="Consolas" pitchFamily="34" charset="-120"/>
              </a:rPr>
              <a:t>Bstop</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WHEN "11" =&gt; state &lt;=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WHEN OTHERS =&gt; state &lt;=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END CASE;</a:t>
            </a:r>
          </a:p>
          <a:p>
            <a:endParaRPr lang="en-US" sz="1000" i="1"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            WHEN Bin =&gt;</a:t>
            </a:r>
          </a:p>
          <a:p>
            <a:r>
              <a:rPr lang="en-US" sz="1000" i="1" dirty="0">
                <a:solidFill>
                  <a:schemeClr val="bg1"/>
                </a:solidFill>
                <a:latin typeface="Consolas" pitchFamily="34" charset="0"/>
                <a:ea typeface="Consolas" pitchFamily="34" charset="-122"/>
                <a:cs typeface="Consolas" pitchFamily="34" charset="-120"/>
              </a:rPr>
              <a:t>                CASE sensor13 IS</a:t>
            </a:r>
          </a:p>
          <a:p>
            <a:r>
              <a:rPr lang="en-US" sz="1000" i="1" dirty="0">
                <a:solidFill>
                  <a:schemeClr val="bg1"/>
                </a:solidFill>
                <a:latin typeface="Consolas" pitchFamily="34" charset="0"/>
                <a:ea typeface="Consolas" pitchFamily="34" charset="-122"/>
                <a:cs typeface="Consolas" pitchFamily="34" charset="-120"/>
              </a:rPr>
              <a:t>                    WHEN "00" =&gt; state &lt;= Bin;</a:t>
            </a:r>
          </a:p>
          <a:p>
            <a:r>
              <a:rPr lang="en-US" sz="1000" i="1" dirty="0">
                <a:solidFill>
                  <a:schemeClr val="bg1"/>
                </a:solidFill>
                <a:latin typeface="Consolas" pitchFamily="34" charset="0"/>
                <a:ea typeface="Consolas" pitchFamily="34" charset="-122"/>
                <a:cs typeface="Consolas" pitchFamily="34" charset="-120"/>
              </a:rPr>
              <a:t>                    WHEN "01" =&gt; state &lt;=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WHEN "10" =&gt; state &lt;= </a:t>
            </a:r>
            <a:r>
              <a:rPr lang="en-US" sz="1000" i="1" dirty="0" err="1">
                <a:solidFill>
                  <a:schemeClr val="bg1"/>
                </a:solidFill>
                <a:latin typeface="Consolas" pitchFamily="34" charset="0"/>
                <a:ea typeface="Consolas" pitchFamily="34" charset="-122"/>
                <a:cs typeface="Consolas" pitchFamily="34" charset="-120"/>
              </a:rPr>
              <a:t>Astop</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WHEN "11" =&gt; state &lt;=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WHEN OTHERS =&gt; state &lt;=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END CASE;</a:t>
            </a:r>
          </a:p>
          <a:p>
            <a:endParaRPr lang="en-US" sz="1000" i="1"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            WHEN </a:t>
            </a:r>
            <a:r>
              <a:rPr lang="en-US" sz="1000" i="1" dirty="0" err="1">
                <a:solidFill>
                  <a:schemeClr val="bg1"/>
                </a:solidFill>
                <a:latin typeface="Consolas" pitchFamily="34" charset="0"/>
                <a:ea typeface="Consolas" pitchFamily="34" charset="-122"/>
                <a:cs typeface="Consolas" pitchFamily="34" charset="-120"/>
              </a:rPr>
              <a:t>Astop</a:t>
            </a:r>
            <a:r>
              <a:rPr lang="en-US" sz="1000" i="1" dirty="0">
                <a:solidFill>
                  <a:schemeClr val="bg1"/>
                </a:solidFill>
                <a:latin typeface="Consolas" pitchFamily="34" charset="0"/>
                <a:ea typeface="Consolas" pitchFamily="34" charset="-122"/>
                <a:cs typeface="Consolas" pitchFamily="34" charset="-120"/>
              </a:rPr>
              <a:t> =&gt;</a:t>
            </a:r>
          </a:p>
          <a:p>
            <a:r>
              <a:rPr lang="en-US" sz="1000" i="1" dirty="0">
                <a:solidFill>
                  <a:schemeClr val="bg1"/>
                </a:solidFill>
                <a:latin typeface="Consolas" pitchFamily="34" charset="0"/>
                <a:ea typeface="Consolas" pitchFamily="34" charset="-122"/>
                <a:cs typeface="Consolas" pitchFamily="34" charset="-120"/>
              </a:rPr>
              <a:t>                IF sensor3 = '1' THEN</a:t>
            </a:r>
          </a:p>
          <a:p>
            <a:r>
              <a:rPr lang="en-US" sz="1000" i="1" dirty="0">
                <a:solidFill>
                  <a:schemeClr val="bg1"/>
                </a:solidFill>
                <a:latin typeface="Consolas" pitchFamily="34" charset="0"/>
                <a:ea typeface="Consolas" pitchFamily="34" charset="-122"/>
                <a:cs typeface="Consolas" pitchFamily="34" charset="-120"/>
              </a:rPr>
              <a:t>                    state &lt;= Ain;</a:t>
            </a:r>
          </a:p>
          <a:p>
            <a:r>
              <a:rPr lang="en-US" sz="1000" i="1" dirty="0">
                <a:solidFill>
                  <a:schemeClr val="bg1"/>
                </a:solidFill>
                <a:latin typeface="Consolas" pitchFamily="34" charset="0"/>
                <a:ea typeface="Consolas" pitchFamily="34" charset="-122"/>
                <a:cs typeface="Consolas" pitchFamily="34" charset="-120"/>
              </a:rPr>
              <a:t>                ELSE</a:t>
            </a:r>
          </a:p>
          <a:p>
            <a:r>
              <a:rPr lang="en-US" sz="1000" i="1" dirty="0">
                <a:solidFill>
                  <a:schemeClr val="bg1"/>
                </a:solidFill>
                <a:latin typeface="Consolas" pitchFamily="34" charset="0"/>
                <a:ea typeface="Consolas" pitchFamily="34" charset="-122"/>
                <a:cs typeface="Consolas" pitchFamily="34" charset="-120"/>
              </a:rPr>
              <a:t>                    state &lt;= </a:t>
            </a:r>
            <a:r>
              <a:rPr lang="en-US" sz="1000" i="1" dirty="0" err="1">
                <a:solidFill>
                  <a:schemeClr val="bg1"/>
                </a:solidFill>
                <a:latin typeface="Consolas" pitchFamily="34" charset="0"/>
                <a:ea typeface="Consolas" pitchFamily="34" charset="-122"/>
                <a:cs typeface="Consolas" pitchFamily="34" charset="-120"/>
              </a:rPr>
              <a:t>Astop</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END IF;</a:t>
            </a:r>
          </a:p>
          <a:p>
            <a:endParaRPr lang="en-US" sz="1050" i="1" dirty="0">
              <a:solidFill>
                <a:schemeClr val="bg1"/>
              </a:solidFill>
              <a:latin typeface="Consolas" pitchFamily="34" charset="0"/>
              <a:ea typeface="Consolas" pitchFamily="34" charset="-122"/>
              <a:cs typeface="Consolas" pitchFamily="34" charset="-120"/>
            </a:endParaRPr>
          </a:p>
          <a:p>
            <a:r>
              <a:rPr lang="en-US" sz="1050" i="1" dirty="0">
                <a:solidFill>
                  <a:schemeClr val="bg1"/>
                </a:solidFill>
                <a:latin typeface="Consolas" pitchFamily="34" charset="0"/>
                <a:ea typeface="Consolas" pitchFamily="34" charset="-122"/>
                <a:cs typeface="Consolas" pitchFamily="34" charset="-120"/>
              </a:rPr>
              <a:t>            </a:t>
            </a:r>
            <a:endParaRPr lang="en-US" sz="1050" dirty="0">
              <a:solidFill>
                <a:schemeClr val="bg1"/>
              </a:solidFill>
            </a:endParaRPr>
          </a:p>
        </p:txBody>
      </p:sp>
    </p:spTree>
    <p:extLst>
      <p:ext uri="{BB962C8B-B14F-4D97-AF65-F5344CB8AC3E}">
        <p14:creationId xmlns:p14="http://schemas.microsoft.com/office/powerpoint/2010/main" val="1889059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2E38FB98-444A-EE18-5829-A907FEEE206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D155C93-6DA7-60E6-927F-CA4477653D6E}"/>
              </a:ext>
            </a:extLst>
          </p:cNvPr>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a:extLst>
              <a:ext uri="{FF2B5EF4-FFF2-40B4-BE49-F238E27FC236}">
                <a16:creationId xmlns:a16="http://schemas.microsoft.com/office/drawing/2014/main" id="{93857469-E888-3F9C-0809-6D6B0A7A9D72}"/>
              </a:ext>
            </a:extLst>
          </p:cNvPr>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a:extLst>
              <a:ext uri="{FF2B5EF4-FFF2-40B4-BE49-F238E27FC236}">
                <a16:creationId xmlns:a16="http://schemas.microsoft.com/office/drawing/2014/main" id="{A5F42684-61D3-3262-EF34-BC0C29DDEECD}"/>
              </a:ext>
            </a:extLst>
          </p:cNvPr>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Código VHDL — Lógica Combinacional</a:t>
            </a:r>
            <a:endParaRPr lang="en-US" sz="2200" dirty="0"/>
          </a:p>
        </p:txBody>
      </p:sp>
      <p:sp>
        <p:nvSpPr>
          <p:cNvPr id="6" name="Shape 4">
            <a:extLst>
              <a:ext uri="{FF2B5EF4-FFF2-40B4-BE49-F238E27FC236}">
                <a16:creationId xmlns:a16="http://schemas.microsoft.com/office/drawing/2014/main" id="{41DC2DB4-F45E-FD18-F979-CCFAC61E834D}"/>
              </a:ext>
            </a:extLst>
          </p:cNvPr>
          <p:cNvSpPr/>
          <p:nvPr/>
        </p:nvSpPr>
        <p:spPr>
          <a:xfrm>
            <a:off x="274320" y="1234440"/>
            <a:ext cx="8595360" cy="356616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7" name="Text 5">
            <a:extLst>
              <a:ext uri="{FF2B5EF4-FFF2-40B4-BE49-F238E27FC236}">
                <a16:creationId xmlns:a16="http://schemas.microsoft.com/office/drawing/2014/main" id="{4C19674C-11BC-0D3A-C0D2-D2804746C4CA}"/>
              </a:ext>
            </a:extLst>
          </p:cNvPr>
          <p:cNvSpPr/>
          <p:nvPr/>
        </p:nvSpPr>
        <p:spPr>
          <a:xfrm>
            <a:off x="457200" y="1325880"/>
            <a:ext cx="8229600" cy="3383280"/>
          </a:xfrm>
          <a:prstGeom prst="rect">
            <a:avLst/>
          </a:prstGeom>
          <a:noFill/>
          <a:ln/>
        </p:spPr>
        <p:txBody>
          <a:bodyPr wrap="square" lIns="0" tIns="0" rIns="0" bIns="0" rtlCol="0" anchor="t"/>
          <a:lstStyle/>
          <a:p>
            <a:r>
              <a:rPr lang="en-US" sz="1000" i="1" dirty="0">
                <a:solidFill>
                  <a:schemeClr val="bg1"/>
                </a:solidFill>
                <a:latin typeface="Consolas" pitchFamily="34" charset="0"/>
                <a:ea typeface="Consolas" pitchFamily="34" charset="-122"/>
                <a:cs typeface="Consolas" pitchFamily="34" charset="-120"/>
              </a:rPr>
              <a:t>	WHEN </a:t>
            </a:r>
            <a:r>
              <a:rPr lang="en-US" sz="1000" i="1" dirty="0" err="1">
                <a:solidFill>
                  <a:schemeClr val="bg1"/>
                </a:solidFill>
                <a:latin typeface="Consolas" pitchFamily="34" charset="0"/>
                <a:ea typeface="Consolas" pitchFamily="34" charset="-122"/>
                <a:cs typeface="Consolas" pitchFamily="34" charset="-120"/>
              </a:rPr>
              <a:t>Bstop</a:t>
            </a:r>
            <a:r>
              <a:rPr lang="en-US" sz="1000" i="1" dirty="0">
                <a:solidFill>
                  <a:schemeClr val="bg1"/>
                </a:solidFill>
                <a:latin typeface="Consolas" pitchFamily="34" charset="0"/>
                <a:ea typeface="Consolas" pitchFamily="34" charset="-122"/>
                <a:cs typeface="Consolas" pitchFamily="34" charset="-120"/>
              </a:rPr>
              <a:t> =&gt;</a:t>
            </a:r>
          </a:p>
          <a:p>
            <a:r>
              <a:rPr lang="en-US" sz="1000" i="1" dirty="0">
                <a:solidFill>
                  <a:schemeClr val="bg1"/>
                </a:solidFill>
                <a:latin typeface="Consolas" pitchFamily="34" charset="0"/>
                <a:ea typeface="Consolas" pitchFamily="34" charset="-122"/>
                <a:cs typeface="Consolas" pitchFamily="34" charset="-120"/>
              </a:rPr>
              <a:t>                IF sensor4 = '1' THEN</a:t>
            </a:r>
          </a:p>
          <a:p>
            <a:r>
              <a:rPr lang="en-US" sz="1000" i="1" dirty="0">
                <a:solidFill>
                  <a:schemeClr val="bg1"/>
                </a:solidFill>
                <a:latin typeface="Consolas" pitchFamily="34" charset="0"/>
                <a:ea typeface="Consolas" pitchFamily="34" charset="-122"/>
                <a:cs typeface="Consolas" pitchFamily="34" charset="-120"/>
              </a:rPr>
              <a:t>                    state &lt;= Bin;</a:t>
            </a:r>
          </a:p>
          <a:p>
            <a:r>
              <a:rPr lang="en-US" sz="1000" i="1" dirty="0">
                <a:solidFill>
                  <a:schemeClr val="bg1"/>
                </a:solidFill>
                <a:latin typeface="Consolas" pitchFamily="34" charset="0"/>
                <a:ea typeface="Consolas" pitchFamily="34" charset="-122"/>
                <a:cs typeface="Consolas" pitchFamily="34" charset="-120"/>
              </a:rPr>
              <a:t>                ELSE</a:t>
            </a:r>
          </a:p>
          <a:p>
            <a:r>
              <a:rPr lang="en-US" sz="1000" i="1" dirty="0">
                <a:solidFill>
                  <a:schemeClr val="bg1"/>
                </a:solidFill>
                <a:latin typeface="Consolas" pitchFamily="34" charset="0"/>
                <a:ea typeface="Consolas" pitchFamily="34" charset="-122"/>
                <a:cs typeface="Consolas" pitchFamily="34" charset="-120"/>
              </a:rPr>
              <a:t>                    state &lt;= </a:t>
            </a:r>
            <a:r>
              <a:rPr lang="en-US" sz="1000" i="1" dirty="0" err="1">
                <a:solidFill>
                  <a:schemeClr val="bg1"/>
                </a:solidFill>
                <a:latin typeface="Consolas" pitchFamily="34" charset="0"/>
                <a:ea typeface="Consolas" pitchFamily="34" charset="-122"/>
                <a:cs typeface="Consolas" pitchFamily="34" charset="-120"/>
              </a:rPr>
              <a:t>Bstop</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END IF;</a:t>
            </a:r>
          </a:p>
          <a:p>
            <a:endParaRPr lang="en-US" sz="1000" i="1"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        END CASE;</a:t>
            </a:r>
          </a:p>
          <a:p>
            <a:r>
              <a:rPr lang="en-US" sz="1000" i="1" dirty="0">
                <a:solidFill>
                  <a:schemeClr val="bg1"/>
                </a:solidFill>
                <a:latin typeface="Consolas" pitchFamily="34" charset="0"/>
                <a:ea typeface="Consolas" pitchFamily="34" charset="-122"/>
                <a:cs typeface="Consolas" pitchFamily="34" charset="-120"/>
              </a:rPr>
              <a:t>    END IF;</a:t>
            </a:r>
          </a:p>
          <a:p>
            <a:r>
              <a:rPr lang="en-US" sz="1000" i="1" dirty="0">
                <a:solidFill>
                  <a:schemeClr val="bg1"/>
                </a:solidFill>
                <a:latin typeface="Consolas" pitchFamily="34" charset="0"/>
                <a:ea typeface="Consolas" pitchFamily="34" charset="-122"/>
                <a:cs typeface="Consolas" pitchFamily="34" charset="-120"/>
              </a:rPr>
              <a:t>END PROCESS;</a:t>
            </a:r>
          </a:p>
          <a:p>
            <a:endParaRPr lang="en-US" sz="1000" i="1"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sensor12 &lt;= sensor1 &amp; sensor2;</a:t>
            </a:r>
          </a:p>
          <a:p>
            <a:r>
              <a:rPr lang="en-US" sz="1000" i="1" dirty="0">
                <a:solidFill>
                  <a:schemeClr val="bg1"/>
                </a:solidFill>
                <a:latin typeface="Consolas" pitchFamily="34" charset="0"/>
                <a:ea typeface="Consolas" pitchFamily="34" charset="-122"/>
                <a:cs typeface="Consolas" pitchFamily="34" charset="-120"/>
              </a:rPr>
              <a:t>sensor13 &lt;= sensor1 &amp; sensor3;</a:t>
            </a:r>
          </a:p>
          <a:p>
            <a:r>
              <a:rPr lang="en-US" sz="1000" i="1" dirty="0">
                <a:solidFill>
                  <a:schemeClr val="bg1"/>
                </a:solidFill>
                <a:latin typeface="Consolas" pitchFamily="34" charset="0"/>
                <a:ea typeface="Consolas" pitchFamily="34" charset="-122"/>
                <a:cs typeface="Consolas" pitchFamily="34" charset="-120"/>
              </a:rPr>
              <a:t>sensor24 &lt;= sensor2 &amp; sensor4;</a:t>
            </a:r>
          </a:p>
          <a:p>
            <a:endParaRPr lang="en-US" sz="1000" i="1"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switch3 &lt;= '0';</a:t>
            </a:r>
          </a:p>
          <a:p>
            <a:endParaRPr lang="en-US" sz="1000" i="1"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WITH state SELECT</a:t>
            </a:r>
          </a:p>
          <a:p>
            <a:r>
              <a:rPr lang="en-US" sz="1000" i="1" dirty="0">
                <a:solidFill>
                  <a:schemeClr val="bg1"/>
                </a:solidFill>
                <a:latin typeface="Consolas" pitchFamily="34" charset="0"/>
                <a:ea typeface="Consolas" pitchFamily="34" charset="-122"/>
                <a:cs typeface="Consolas" pitchFamily="34" charset="-120"/>
              </a:rPr>
              <a:t>switch1 &lt;= '0' WHEN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'0' WHEN Ain,</a:t>
            </a:r>
          </a:p>
          <a:p>
            <a:r>
              <a:rPr lang="en-US" sz="1000" i="1" dirty="0">
                <a:solidFill>
                  <a:schemeClr val="bg1"/>
                </a:solidFill>
                <a:latin typeface="Consolas" pitchFamily="34" charset="0"/>
                <a:ea typeface="Consolas" pitchFamily="34" charset="-122"/>
                <a:cs typeface="Consolas" pitchFamily="34" charset="-120"/>
              </a:rPr>
              <a:t>           '1' WHEN Bin,</a:t>
            </a:r>
          </a:p>
          <a:p>
            <a:r>
              <a:rPr lang="en-US" sz="1000" i="1" dirty="0">
                <a:solidFill>
                  <a:schemeClr val="bg1"/>
                </a:solidFill>
                <a:latin typeface="Consolas" pitchFamily="34" charset="0"/>
                <a:ea typeface="Consolas" pitchFamily="34" charset="-122"/>
                <a:cs typeface="Consolas" pitchFamily="34" charset="-120"/>
              </a:rPr>
              <a:t>           '1' WHEN </a:t>
            </a:r>
            <a:r>
              <a:rPr lang="en-US" sz="1000" i="1" dirty="0" err="1">
                <a:solidFill>
                  <a:schemeClr val="bg1"/>
                </a:solidFill>
                <a:latin typeface="Consolas" pitchFamily="34" charset="0"/>
                <a:ea typeface="Consolas" pitchFamily="34" charset="-122"/>
                <a:cs typeface="Consolas" pitchFamily="34" charset="-120"/>
              </a:rPr>
              <a:t>Astop</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'0' WHEN </a:t>
            </a:r>
            <a:r>
              <a:rPr lang="en-US" sz="1000" i="1" dirty="0" err="1">
                <a:solidFill>
                  <a:schemeClr val="bg1"/>
                </a:solidFill>
                <a:latin typeface="Consolas" pitchFamily="34" charset="0"/>
                <a:ea typeface="Consolas" pitchFamily="34" charset="-122"/>
                <a:cs typeface="Consolas" pitchFamily="34" charset="-120"/>
              </a:rPr>
              <a:t>Bstop</a:t>
            </a:r>
            <a:r>
              <a:rPr lang="en-US" sz="1000" i="1" dirty="0">
                <a:solidFill>
                  <a:schemeClr val="bg1"/>
                </a:solidFill>
                <a:latin typeface="Consolas" pitchFamily="34" charset="0"/>
                <a:ea typeface="Consolas" pitchFamily="34" charset="-122"/>
                <a:cs typeface="Consolas" pitchFamily="34" charset="-120"/>
              </a:rPr>
              <a:t>;</a:t>
            </a:r>
          </a:p>
          <a:p>
            <a:endParaRPr lang="en-US" sz="1050" dirty="0">
              <a:solidFill>
                <a:schemeClr val="bg1"/>
              </a:solidFill>
            </a:endParaRPr>
          </a:p>
        </p:txBody>
      </p:sp>
    </p:spTree>
    <p:extLst>
      <p:ext uri="{BB962C8B-B14F-4D97-AF65-F5344CB8AC3E}">
        <p14:creationId xmlns:p14="http://schemas.microsoft.com/office/powerpoint/2010/main" val="2062235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66990DE9-7255-9577-45A4-870CE01E7A2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8949AFA-0920-E92F-FF7B-B7C685F3C636}"/>
              </a:ext>
            </a:extLst>
          </p:cNvPr>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a:extLst>
              <a:ext uri="{FF2B5EF4-FFF2-40B4-BE49-F238E27FC236}">
                <a16:creationId xmlns:a16="http://schemas.microsoft.com/office/drawing/2014/main" id="{B635B5B8-1460-5CD9-95A5-6A1AE9E9C51A}"/>
              </a:ext>
            </a:extLst>
          </p:cNvPr>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a:extLst>
              <a:ext uri="{FF2B5EF4-FFF2-40B4-BE49-F238E27FC236}">
                <a16:creationId xmlns:a16="http://schemas.microsoft.com/office/drawing/2014/main" id="{9A7DD863-1890-A190-A2DF-A5DFD896AB50}"/>
              </a:ext>
            </a:extLst>
          </p:cNvPr>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Código VHDL — Lógica Combinacional</a:t>
            </a:r>
            <a:endParaRPr lang="en-US" sz="2200" dirty="0"/>
          </a:p>
        </p:txBody>
      </p:sp>
      <p:sp>
        <p:nvSpPr>
          <p:cNvPr id="6" name="Shape 4">
            <a:extLst>
              <a:ext uri="{FF2B5EF4-FFF2-40B4-BE49-F238E27FC236}">
                <a16:creationId xmlns:a16="http://schemas.microsoft.com/office/drawing/2014/main" id="{D199CC30-350C-B33B-219A-9D5BDC569479}"/>
              </a:ext>
            </a:extLst>
          </p:cNvPr>
          <p:cNvSpPr/>
          <p:nvPr/>
        </p:nvSpPr>
        <p:spPr>
          <a:xfrm>
            <a:off x="274320" y="1234440"/>
            <a:ext cx="8595360" cy="356616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7" name="Text 5">
            <a:extLst>
              <a:ext uri="{FF2B5EF4-FFF2-40B4-BE49-F238E27FC236}">
                <a16:creationId xmlns:a16="http://schemas.microsoft.com/office/drawing/2014/main" id="{B1A57A8C-E643-94C5-3AC7-FDE61CF5FF11}"/>
              </a:ext>
            </a:extLst>
          </p:cNvPr>
          <p:cNvSpPr/>
          <p:nvPr/>
        </p:nvSpPr>
        <p:spPr>
          <a:xfrm>
            <a:off x="457200" y="1325880"/>
            <a:ext cx="8229600" cy="3383280"/>
          </a:xfrm>
          <a:prstGeom prst="rect">
            <a:avLst/>
          </a:prstGeom>
          <a:noFill/>
          <a:ln/>
        </p:spPr>
        <p:txBody>
          <a:bodyPr wrap="square" lIns="0" tIns="0" rIns="0" bIns="0" rtlCol="0" anchor="t"/>
          <a:lstStyle/>
          <a:p>
            <a:r>
              <a:rPr lang="en-US" sz="1000" i="1" dirty="0">
                <a:solidFill>
                  <a:schemeClr val="bg1"/>
                </a:solidFill>
                <a:latin typeface="Consolas" pitchFamily="34" charset="0"/>
                <a:ea typeface="Consolas" pitchFamily="34" charset="-122"/>
                <a:cs typeface="Consolas" pitchFamily="34" charset="-120"/>
              </a:rPr>
              <a:t>WITH state SELECT</a:t>
            </a:r>
          </a:p>
          <a:p>
            <a:r>
              <a:rPr lang="en-US" sz="1000" i="1" dirty="0">
                <a:solidFill>
                  <a:schemeClr val="bg1"/>
                </a:solidFill>
                <a:latin typeface="Consolas" pitchFamily="34" charset="0"/>
                <a:ea typeface="Consolas" pitchFamily="34" charset="-122"/>
                <a:cs typeface="Consolas" pitchFamily="34" charset="-120"/>
              </a:rPr>
              <a:t>switch2 &lt;= '0' WHEN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'0' WHEN Ain,</a:t>
            </a:r>
          </a:p>
          <a:p>
            <a:r>
              <a:rPr lang="en-US" sz="1000" i="1" dirty="0">
                <a:solidFill>
                  <a:schemeClr val="bg1"/>
                </a:solidFill>
                <a:latin typeface="Consolas" pitchFamily="34" charset="0"/>
                <a:ea typeface="Consolas" pitchFamily="34" charset="-122"/>
                <a:cs typeface="Consolas" pitchFamily="34" charset="-120"/>
              </a:rPr>
              <a:t>           '1' WHEN Bin,</a:t>
            </a:r>
          </a:p>
          <a:p>
            <a:r>
              <a:rPr lang="en-US" sz="1000" i="1" dirty="0">
                <a:solidFill>
                  <a:schemeClr val="bg1"/>
                </a:solidFill>
                <a:latin typeface="Consolas" pitchFamily="34" charset="0"/>
                <a:ea typeface="Consolas" pitchFamily="34" charset="-122"/>
                <a:cs typeface="Consolas" pitchFamily="34" charset="-120"/>
              </a:rPr>
              <a:t>           '1' WHEN </a:t>
            </a:r>
            <a:r>
              <a:rPr lang="en-US" sz="1000" i="1" dirty="0" err="1">
                <a:solidFill>
                  <a:schemeClr val="bg1"/>
                </a:solidFill>
                <a:latin typeface="Consolas" pitchFamily="34" charset="0"/>
                <a:ea typeface="Consolas" pitchFamily="34" charset="-122"/>
                <a:cs typeface="Consolas" pitchFamily="34" charset="-120"/>
              </a:rPr>
              <a:t>Astop</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'0' WHEN </a:t>
            </a:r>
            <a:r>
              <a:rPr lang="en-US" sz="1000" i="1" dirty="0" err="1">
                <a:solidFill>
                  <a:schemeClr val="bg1"/>
                </a:solidFill>
                <a:latin typeface="Consolas" pitchFamily="34" charset="0"/>
                <a:ea typeface="Consolas" pitchFamily="34" charset="-122"/>
                <a:cs typeface="Consolas" pitchFamily="34" charset="-120"/>
              </a:rPr>
              <a:t>Bstop</a:t>
            </a:r>
            <a:r>
              <a:rPr lang="en-US" sz="1000" i="1" dirty="0">
                <a:solidFill>
                  <a:schemeClr val="bg1"/>
                </a:solidFill>
                <a:latin typeface="Consolas" pitchFamily="34" charset="0"/>
                <a:ea typeface="Consolas" pitchFamily="34" charset="-122"/>
                <a:cs typeface="Consolas" pitchFamily="34" charset="-120"/>
              </a:rPr>
              <a:t>;</a:t>
            </a:r>
          </a:p>
          <a:p>
            <a:endParaRPr lang="en-US" sz="1000" i="1"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WITH state SELECT</a:t>
            </a:r>
          </a:p>
          <a:p>
            <a:r>
              <a:rPr lang="en-US" sz="1000" i="1" dirty="0" err="1">
                <a:solidFill>
                  <a:schemeClr val="bg1"/>
                </a:solidFill>
                <a:latin typeface="Consolas" pitchFamily="34" charset="0"/>
                <a:ea typeface="Consolas" pitchFamily="34" charset="-122"/>
                <a:cs typeface="Consolas" pitchFamily="34" charset="-120"/>
              </a:rPr>
              <a:t>dirA</a:t>
            </a:r>
            <a:r>
              <a:rPr lang="en-US" sz="1000" i="1" dirty="0">
                <a:solidFill>
                  <a:schemeClr val="bg1"/>
                </a:solidFill>
                <a:latin typeface="Consolas" pitchFamily="34" charset="0"/>
                <a:ea typeface="Consolas" pitchFamily="34" charset="-122"/>
                <a:cs typeface="Consolas" pitchFamily="34" charset="-120"/>
              </a:rPr>
              <a:t> &lt;= "01" WHEN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"01" WHEN Ain,</a:t>
            </a:r>
          </a:p>
          <a:p>
            <a:r>
              <a:rPr lang="en-US" sz="1000" i="1" dirty="0">
                <a:solidFill>
                  <a:schemeClr val="bg1"/>
                </a:solidFill>
                <a:latin typeface="Consolas" pitchFamily="34" charset="0"/>
                <a:ea typeface="Consolas" pitchFamily="34" charset="-122"/>
                <a:cs typeface="Consolas" pitchFamily="34" charset="-120"/>
              </a:rPr>
              <a:t>        "01" WHEN Bin,</a:t>
            </a:r>
          </a:p>
          <a:p>
            <a:r>
              <a:rPr lang="en-US" sz="1000" i="1" dirty="0">
                <a:solidFill>
                  <a:schemeClr val="bg1"/>
                </a:solidFill>
                <a:latin typeface="Consolas" pitchFamily="34" charset="0"/>
                <a:ea typeface="Consolas" pitchFamily="34" charset="-122"/>
                <a:cs typeface="Consolas" pitchFamily="34" charset="-120"/>
              </a:rPr>
              <a:t>        "00" WHEN </a:t>
            </a:r>
            <a:r>
              <a:rPr lang="en-US" sz="1000" i="1" dirty="0" err="1">
                <a:solidFill>
                  <a:schemeClr val="bg1"/>
                </a:solidFill>
                <a:latin typeface="Consolas" pitchFamily="34" charset="0"/>
                <a:ea typeface="Consolas" pitchFamily="34" charset="-122"/>
                <a:cs typeface="Consolas" pitchFamily="34" charset="-120"/>
              </a:rPr>
              <a:t>Astop</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"01" WHEN </a:t>
            </a:r>
            <a:r>
              <a:rPr lang="en-US" sz="1000" i="1" dirty="0" err="1">
                <a:solidFill>
                  <a:schemeClr val="bg1"/>
                </a:solidFill>
                <a:latin typeface="Consolas" pitchFamily="34" charset="0"/>
                <a:ea typeface="Consolas" pitchFamily="34" charset="-122"/>
                <a:cs typeface="Consolas" pitchFamily="34" charset="-120"/>
              </a:rPr>
              <a:t>Bstop</a:t>
            </a:r>
            <a:r>
              <a:rPr lang="en-US" sz="1000" i="1" dirty="0">
                <a:solidFill>
                  <a:schemeClr val="bg1"/>
                </a:solidFill>
                <a:latin typeface="Consolas" pitchFamily="34" charset="0"/>
                <a:ea typeface="Consolas" pitchFamily="34" charset="-122"/>
                <a:cs typeface="Consolas" pitchFamily="34" charset="-120"/>
              </a:rPr>
              <a:t>;</a:t>
            </a:r>
          </a:p>
          <a:p>
            <a:endParaRPr lang="en-US" sz="1000" i="1"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WITH state SELECT</a:t>
            </a:r>
          </a:p>
          <a:p>
            <a:r>
              <a:rPr lang="en-US" sz="1000" i="1" dirty="0" err="1">
                <a:solidFill>
                  <a:schemeClr val="bg1"/>
                </a:solidFill>
                <a:latin typeface="Consolas" pitchFamily="34" charset="0"/>
                <a:ea typeface="Consolas" pitchFamily="34" charset="-122"/>
                <a:cs typeface="Consolas" pitchFamily="34" charset="-120"/>
              </a:rPr>
              <a:t>dirB</a:t>
            </a:r>
            <a:r>
              <a:rPr lang="en-US" sz="1000" i="1" dirty="0">
                <a:solidFill>
                  <a:schemeClr val="bg1"/>
                </a:solidFill>
                <a:latin typeface="Consolas" pitchFamily="34" charset="0"/>
                <a:ea typeface="Consolas" pitchFamily="34" charset="-122"/>
                <a:cs typeface="Consolas" pitchFamily="34" charset="-120"/>
              </a:rPr>
              <a:t> &lt;= "01" WHEN </a:t>
            </a:r>
            <a:r>
              <a:rPr lang="en-US" sz="1000" i="1" dirty="0" err="1">
                <a:solidFill>
                  <a:schemeClr val="bg1"/>
                </a:solidFill>
                <a:latin typeface="Consolas" pitchFamily="34" charset="0"/>
                <a:ea typeface="Consolas" pitchFamily="34" charset="-122"/>
                <a:cs typeface="Consolas" pitchFamily="34" charset="-120"/>
              </a:rPr>
              <a:t>ABout</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"01" WHEN Ain,</a:t>
            </a:r>
          </a:p>
          <a:p>
            <a:r>
              <a:rPr lang="en-US" sz="1000" i="1" dirty="0">
                <a:solidFill>
                  <a:schemeClr val="bg1"/>
                </a:solidFill>
                <a:latin typeface="Consolas" pitchFamily="34" charset="0"/>
                <a:ea typeface="Consolas" pitchFamily="34" charset="-122"/>
                <a:cs typeface="Consolas" pitchFamily="34" charset="-120"/>
              </a:rPr>
              <a:t>        "01" WHEN Bin,</a:t>
            </a:r>
          </a:p>
          <a:p>
            <a:r>
              <a:rPr lang="en-US" sz="1000" i="1" dirty="0">
                <a:solidFill>
                  <a:schemeClr val="bg1"/>
                </a:solidFill>
                <a:latin typeface="Consolas" pitchFamily="34" charset="0"/>
                <a:ea typeface="Consolas" pitchFamily="34" charset="-122"/>
                <a:cs typeface="Consolas" pitchFamily="34" charset="-120"/>
              </a:rPr>
              <a:t>        "01" WHEN </a:t>
            </a:r>
            <a:r>
              <a:rPr lang="en-US" sz="1000" i="1" dirty="0" err="1">
                <a:solidFill>
                  <a:schemeClr val="bg1"/>
                </a:solidFill>
                <a:latin typeface="Consolas" pitchFamily="34" charset="0"/>
                <a:ea typeface="Consolas" pitchFamily="34" charset="-122"/>
                <a:cs typeface="Consolas" pitchFamily="34" charset="-120"/>
              </a:rPr>
              <a:t>Astop</a:t>
            </a:r>
            <a:r>
              <a:rPr lang="en-US" sz="1000" i="1" dirty="0">
                <a:solidFill>
                  <a:schemeClr val="bg1"/>
                </a:solidFill>
                <a:latin typeface="Consolas" pitchFamily="34" charset="0"/>
                <a:ea typeface="Consolas" pitchFamily="34" charset="-122"/>
                <a:cs typeface="Consolas" pitchFamily="34" charset="-120"/>
              </a:rPr>
              <a:t>,</a:t>
            </a:r>
          </a:p>
          <a:p>
            <a:r>
              <a:rPr lang="en-US" sz="1000" i="1" dirty="0">
                <a:solidFill>
                  <a:schemeClr val="bg1"/>
                </a:solidFill>
                <a:latin typeface="Consolas" pitchFamily="34" charset="0"/>
                <a:ea typeface="Consolas" pitchFamily="34" charset="-122"/>
                <a:cs typeface="Consolas" pitchFamily="34" charset="-120"/>
              </a:rPr>
              <a:t>        "00" WHEN </a:t>
            </a:r>
            <a:r>
              <a:rPr lang="en-US" sz="1000" i="1" dirty="0" err="1">
                <a:solidFill>
                  <a:schemeClr val="bg1"/>
                </a:solidFill>
                <a:latin typeface="Consolas" pitchFamily="34" charset="0"/>
                <a:ea typeface="Consolas" pitchFamily="34" charset="-122"/>
                <a:cs typeface="Consolas" pitchFamily="34" charset="-120"/>
              </a:rPr>
              <a:t>Bstop</a:t>
            </a:r>
            <a:r>
              <a:rPr lang="en-US" sz="1000" i="1" dirty="0">
                <a:solidFill>
                  <a:schemeClr val="bg1"/>
                </a:solidFill>
                <a:latin typeface="Consolas" pitchFamily="34" charset="0"/>
                <a:ea typeface="Consolas" pitchFamily="34" charset="-122"/>
                <a:cs typeface="Consolas" pitchFamily="34" charset="-120"/>
              </a:rPr>
              <a:t>;</a:t>
            </a:r>
          </a:p>
          <a:p>
            <a:endParaRPr lang="en-US" sz="1000" i="1" dirty="0">
              <a:solidFill>
                <a:schemeClr val="bg1"/>
              </a:solidFill>
              <a:latin typeface="Consolas" pitchFamily="34" charset="0"/>
              <a:ea typeface="Consolas" pitchFamily="34" charset="-122"/>
              <a:cs typeface="Consolas" pitchFamily="34" charset="-120"/>
            </a:endParaRPr>
          </a:p>
          <a:p>
            <a:r>
              <a:rPr lang="en-US" sz="1000" i="1" dirty="0">
                <a:solidFill>
                  <a:schemeClr val="bg1"/>
                </a:solidFill>
                <a:latin typeface="Consolas" pitchFamily="34" charset="0"/>
                <a:ea typeface="Consolas" pitchFamily="34" charset="-122"/>
                <a:cs typeface="Consolas" pitchFamily="34" charset="-120"/>
              </a:rPr>
              <a:t>END a;</a:t>
            </a:r>
            <a:endParaRPr lang="en-US" sz="1050" dirty="0">
              <a:solidFill>
                <a:schemeClr val="bg1"/>
              </a:solidFill>
            </a:endParaRPr>
          </a:p>
        </p:txBody>
      </p:sp>
    </p:spTree>
    <p:extLst>
      <p:ext uri="{BB962C8B-B14F-4D97-AF65-F5344CB8AC3E}">
        <p14:creationId xmlns:p14="http://schemas.microsoft.com/office/powerpoint/2010/main" val="3172411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RTL Obtenido</a:t>
            </a:r>
            <a:endParaRPr lang="en-US" sz="2200" dirty="0"/>
          </a:p>
        </p:txBody>
      </p:sp>
      <p:sp>
        <p:nvSpPr>
          <p:cNvPr id="6" name="Shape 4"/>
          <p:cNvSpPr/>
          <p:nvPr/>
        </p:nvSpPr>
        <p:spPr>
          <a:xfrm>
            <a:off x="274320" y="1234440"/>
            <a:ext cx="8595360" cy="283464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pic>
        <p:nvPicPr>
          <p:cNvPr id="7" name="Image 0" descr="preencoded.png"/>
          <p:cNvPicPr>
            <a:picLocks noChangeAspect="1"/>
          </p:cNvPicPr>
          <p:nvPr/>
        </p:nvPicPr>
        <p:blipFill>
          <a:blip r:embed="rId3"/>
          <a:srcRect/>
          <a:stretch/>
        </p:blipFill>
        <p:spPr>
          <a:xfrm>
            <a:off x="411480" y="1298448"/>
            <a:ext cx="8321040" cy="26974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Simulación — Caso 1</a:t>
            </a:r>
            <a:endParaRPr lang="en-US" sz="2200" dirty="0"/>
          </a:p>
        </p:txBody>
      </p:sp>
      <p:sp>
        <p:nvSpPr>
          <p:cNvPr id="6" name="Shape 4"/>
          <p:cNvSpPr/>
          <p:nvPr/>
        </p:nvSpPr>
        <p:spPr>
          <a:xfrm>
            <a:off x="274320" y="1234440"/>
            <a:ext cx="8595360" cy="246888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pic>
        <p:nvPicPr>
          <p:cNvPr id="7" name="Image 0" descr="preencoded.png"/>
          <p:cNvPicPr>
            <a:picLocks noChangeAspect="1"/>
          </p:cNvPicPr>
          <p:nvPr/>
        </p:nvPicPr>
        <p:blipFill>
          <a:blip r:embed="rId3"/>
          <a:srcRect/>
          <a:stretch/>
        </p:blipFill>
        <p:spPr>
          <a:xfrm>
            <a:off x="365760" y="1280160"/>
            <a:ext cx="8412480" cy="2377440"/>
          </a:xfrm>
          <a:prstGeom prst="rect">
            <a:avLst/>
          </a:prstGeom>
        </p:spPr>
      </p:pic>
      <p:sp>
        <p:nvSpPr>
          <p:cNvPr id="8" name="Shape 5"/>
          <p:cNvSpPr/>
          <p:nvPr/>
        </p:nvSpPr>
        <p:spPr>
          <a:xfrm>
            <a:off x="274320" y="3822192"/>
            <a:ext cx="2011680" cy="91440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9" name="Text 6"/>
          <p:cNvSpPr/>
          <p:nvPr/>
        </p:nvSpPr>
        <p:spPr>
          <a:xfrm>
            <a:off x="365760" y="3886200"/>
            <a:ext cx="1828800" cy="320040"/>
          </a:xfrm>
          <a:prstGeom prst="rect">
            <a:avLst/>
          </a:prstGeom>
          <a:noFill/>
          <a:ln/>
        </p:spPr>
        <p:txBody>
          <a:bodyPr wrap="square" lIns="0" tIns="0" rIns="0" bIns="0" rtlCol="0" anchor="ctr"/>
          <a:lstStyle/>
          <a:p>
            <a:pPr marL="0" indent="0">
              <a:buNone/>
            </a:pPr>
            <a:r>
              <a:rPr lang="en-US" sz="1200" b="1" dirty="0">
                <a:solidFill>
                  <a:srgbClr val="10B981"/>
                </a:solidFill>
              </a:rPr>
              <a:t>dirA = 01</a:t>
            </a:r>
            <a:endParaRPr lang="en-US" sz="1200" dirty="0"/>
          </a:p>
        </p:txBody>
      </p:sp>
      <p:sp>
        <p:nvSpPr>
          <p:cNvPr id="10" name="Text 7"/>
          <p:cNvSpPr/>
          <p:nvPr/>
        </p:nvSpPr>
        <p:spPr>
          <a:xfrm>
            <a:off x="365760" y="4224528"/>
            <a:ext cx="1828800" cy="438912"/>
          </a:xfrm>
          <a:prstGeom prst="rect">
            <a:avLst/>
          </a:prstGeom>
          <a:noFill/>
          <a:ln/>
        </p:spPr>
        <p:txBody>
          <a:bodyPr wrap="square" lIns="0" tIns="0" rIns="0" bIns="0" rtlCol="0" anchor="ctr"/>
          <a:lstStyle/>
          <a:p>
            <a:pPr marL="0" indent="0">
              <a:buNone/>
            </a:pPr>
            <a:r>
              <a:rPr lang="en-US" sz="1000" dirty="0">
                <a:solidFill>
                  <a:srgbClr val="E8F4F8"/>
                </a:solidFill>
              </a:rPr>
              <a:t>Tren A avanza (sentido antihorario)</a:t>
            </a:r>
            <a:endParaRPr lang="en-US" sz="1000" dirty="0"/>
          </a:p>
        </p:txBody>
      </p:sp>
      <p:sp>
        <p:nvSpPr>
          <p:cNvPr id="11" name="Shape 8"/>
          <p:cNvSpPr/>
          <p:nvPr/>
        </p:nvSpPr>
        <p:spPr>
          <a:xfrm>
            <a:off x="2468880" y="3822192"/>
            <a:ext cx="2011680" cy="91440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2" name="Text 9"/>
          <p:cNvSpPr/>
          <p:nvPr/>
        </p:nvSpPr>
        <p:spPr>
          <a:xfrm>
            <a:off x="2560320" y="3886200"/>
            <a:ext cx="1828800" cy="320040"/>
          </a:xfrm>
          <a:prstGeom prst="rect">
            <a:avLst/>
          </a:prstGeom>
          <a:noFill/>
          <a:ln/>
        </p:spPr>
        <p:txBody>
          <a:bodyPr wrap="square" lIns="0" tIns="0" rIns="0" bIns="0" rtlCol="0" anchor="ctr"/>
          <a:lstStyle/>
          <a:p>
            <a:pPr marL="0" indent="0">
              <a:buNone/>
            </a:pPr>
            <a:r>
              <a:rPr lang="en-US" sz="1200" b="1" dirty="0">
                <a:solidFill>
                  <a:srgbClr val="0891B2"/>
                </a:solidFill>
              </a:rPr>
              <a:t>dirB = 01</a:t>
            </a:r>
            <a:endParaRPr lang="en-US" sz="1200" dirty="0"/>
          </a:p>
        </p:txBody>
      </p:sp>
      <p:sp>
        <p:nvSpPr>
          <p:cNvPr id="13" name="Text 10"/>
          <p:cNvSpPr/>
          <p:nvPr/>
        </p:nvSpPr>
        <p:spPr>
          <a:xfrm>
            <a:off x="2560320" y="4224528"/>
            <a:ext cx="1828800" cy="438912"/>
          </a:xfrm>
          <a:prstGeom prst="rect">
            <a:avLst/>
          </a:prstGeom>
          <a:noFill/>
          <a:ln/>
        </p:spPr>
        <p:txBody>
          <a:bodyPr wrap="square" lIns="0" tIns="0" rIns="0" bIns="0" rtlCol="0" anchor="ctr"/>
          <a:lstStyle/>
          <a:p>
            <a:pPr marL="0" indent="0">
              <a:buNone/>
            </a:pPr>
            <a:r>
              <a:rPr lang="en-US" sz="1000" dirty="0">
                <a:solidFill>
                  <a:srgbClr val="E8F4F8"/>
                </a:solidFill>
              </a:rPr>
              <a:t>Tren B avanza inicialmente</a:t>
            </a:r>
            <a:endParaRPr lang="en-US" sz="1000" dirty="0"/>
          </a:p>
        </p:txBody>
      </p:sp>
      <p:sp>
        <p:nvSpPr>
          <p:cNvPr id="14" name="Shape 11"/>
          <p:cNvSpPr/>
          <p:nvPr/>
        </p:nvSpPr>
        <p:spPr>
          <a:xfrm>
            <a:off x="4663440" y="3822192"/>
            <a:ext cx="2011680" cy="91440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5" name="Text 12"/>
          <p:cNvSpPr/>
          <p:nvPr/>
        </p:nvSpPr>
        <p:spPr>
          <a:xfrm>
            <a:off x="4754880" y="3886200"/>
            <a:ext cx="1828800" cy="320040"/>
          </a:xfrm>
          <a:prstGeom prst="rect">
            <a:avLst/>
          </a:prstGeom>
          <a:noFill/>
          <a:ln/>
        </p:spPr>
        <p:txBody>
          <a:bodyPr wrap="square" lIns="0" tIns="0" rIns="0" bIns="0" rtlCol="0" anchor="ctr"/>
          <a:lstStyle/>
          <a:p>
            <a:pPr marL="0" indent="0">
              <a:buNone/>
            </a:pPr>
            <a:r>
              <a:rPr lang="en-US" sz="1200" b="1" dirty="0">
                <a:solidFill>
                  <a:srgbClr val="F59E0B"/>
                </a:solidFill>
              </a:rPr>
              <a:t>SW1 &amp; SW2 activos</a:t>
            </a:r>
            <a:endParaRPr lang="en-US" sz="1200" dirty="0"/>
          </a:p>
        </p:txBody>
      </p:sp>
      <p:sp>
        <p:nvSpPr>
          <p:cNvPr id="16" name="Text 13"/>
          <p:cNvSpPr/>
          <p:nvPr/>
        </p:nvSpPr>
        <p:spPr>
          <a:xfrm>
            <a:off x="4754880" y="4224528"/>
            <a:ext cx="1828800" cy="438912"/>
          </a:xfrm>
          <a:prstGeom prst="rect">
            <a:avLst/>
          </a:prstGeom>
          <a:noFill/>
          <a:ln/>
        </p:spPr>
        <p:txBody>
          <a:bodyPr wrap="square" lIns="0" tIns="0" rIns="0" bIns="0" rtlCol="0" anchor="ctr"/>
          <a:lstStyle/>
          <a:p>
            <a:pPr marL="0" indent="0">
              <a:buNone/>
            </a:pPr>
            <a:r>
              <a:rPr lang="en-US" sz="1000" dirty="0">
                <a:solidFill>
                  <a:srgbClr val="E8F4F8"/>
                </a:solidFill>
              </a:rPr>
              <a:t>Interruptores 1 y 2 se activan tras reset</a:t>
            </a:r>
            <a:endParaRPr lang="en-US" sz="1000" dirty="0"/>
          </a:p>
        </p:txBody>
      </p:sp>
      <p:sp>
        <p:nvSpPr>
          <p:cNvPr id="17" name="Shape 14"/>
          <p:cNvSpPr/>
          <p:nvPr/>
        </p:nvSpPr>
        <p:spPr>
          <a:xfrm>
            <a:off x="6858000" y="3822192"/>
            <a:ext cx="2011680" cy="91440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8" name="Text 15"/>
          <p:cNvSpPr/>
          <p:nvPr/>
        </p:nvSpPr>
        <p:spPr>
          <a:xfrm>
            <a:off x="6949440" y="3886200"/>
            <a:ext cx="1828800" cy="320040"/>
          </a:xfrm>
          <a:prstGeom prst="rect">
            <a:avLst/>
          </a:prstGeom>
          <a:noFill/>
          <a:ln/>
        </p:spPr>
        <p:txBody>
          <a:bodyPr wrap="square" lIns="0" tIns="0" rIns="0" bIns="0" rtlCol="0" anchor="ctr"/>
          <a:lstStyle/>
          <a:p>
            <a:pPr marL="0" indent="0">
              <a:buNone/>
            </a:pPr>
            <a:r>
              <a:rPr lang="en-US" sz="1200" b="1" dirty="0">
                <a:solidFill>
                  <a:srgbClr val="EF4444"/>
                </a:solidFill>
              </a:rPr>
              <a:t>sensor2 = 1</a:t>
            </a:r>
            <a:endParaRPr lang="en-US" sz="1200" dirty="0"/>
          </a:p>
        </p:txBody>
      </p:sp>
      <p:sp>
        <p:nvSpPr>
          <p:cNvPr id="19" name="Text 16"/>
          <p:cNvSpPr/>
          <p:nvPr/>
        </p:nvSpPr>
        <p:spPr>
          <a:xfrm>
            <a:off x="6949440" y="4224528"/>
            <a:ext cx="1828800" cy="438912"/>
          </a:xfrm>
          <a:prstGeom prst="rect">
            <a:avLst/>
          </a:prstGeom>
          <a:noFill/>
          <a:ln/>
        </p:spPr>
        <p:txBody>
          <a:bodyPr wrap="square" lIns="0" tIns="0" rIns="0" bIns="0" rtlCol="0" anchor="ctr"/>
          <a:lstStyle/>
          <a:p>
            <a:pPr marL="0" indent="0">
              <a:buNone/>
            </a:pPr>
            <a:r>
              <a:rPr lang="en-US" sz="1000" dirty="0">
                <a:solidFill>
                  <a:srgbClr val="E8F4F8"/>
                </a:solidFill>
              </a:rPr>
              <a:t>Tren B detectado → transición a Bstop</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Simulación — Caso 2</a:t>
            </a:r>
            <a:endParaRPr lang="en-US" sz="2200" dirty="0"/>
          </a:p>
        </p:txBody>
      </p:sp>
      <p:sp>
        <p:nvSpPr>
          <p:cNvPr id="6" name="Shape 4"/>
          <p:cNvSpPr/>
          <p:nvPr/>
        </p:nvSpPr>
        <p:spPr>
          <a:xfrm>
            <a:off x="274320" y="1234440"/>
            <a:ext cx="8595360" cy="246888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pic>
        <p:nvPicPr>
          <p:cNvPr id="7" name="Image 0" descr="preencoded.png"/>
          <p:cNvPicPr>
            <a:picLocks noChangeAspect="1"/>
          </p:cNvPicPr>
          <p:nvPr/>
        </p:nvPicPr>
        <p:blipFill>
          <a:blip r:embed="rId3"/>
          <a:srcRect/>
          <a:stretch/>
        </p:blipFill>
        <p:spPr>
          <a:xfrm>
            <a:off x="365760" y="1280160"/>
            <a:ext cx="8412480" cy="2377440"/>
          </a:xfrm>
          <a:prstGeom prst="rect">
            <a:avLst/>
          </a:prstGeom>
        </p:spPr>
      </p:pic>
      <p:sp>
        <p:nvSpPr>
          <p:cNvPr id="8" name="Shape 5"/>
          <p:cNvSpPr/>
          <p:nvPr/>
        </p:nvSpPr>
        <p:spPr>
          <a:xfrm>
            <a:off x="274320" y="3822192"/>
            <a:ext cx="2011680" cy="91440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9" name="Text 6"/>
          <p:cNvSpPr/>
          <p:nvPr/>
        </p:nvSpPr>
        <p:spPr>
          <a:xfrm>
            <a:off x="365760" y="3886200"/>
            <a:ext cx="1828800" cy="320040"/>
          </a:xfrm>
          <a:prstGeom prst="rect">
            <a:avLst/>
          </a:prstGeom>
          <a:noFill/>
          <a:ln/>
        </p:spPr>
        <p:txBody>
          <a:bodyPr wrap="square" lIns="0" tIns="0" rIns="0" bIns="0" rtlCol="0" anchor="ctr"/>
          <a:lstStyle/>
          <a:p>
            <a:pPr marL="0" indent="0">
              <a:buNone/>
            </a:pPr>
            <a:r>
              <a:rPr lang="en-US" sz="1200" b="1" dirty="0">
                <a:solidFill>
                  <a:srgbClr val="10B981"/>
                </a:solidFill>
              </a:rPr>
              <a:t>dirA = 01</a:t>
            </a:r>
            <a:endParaRPr lang="en-US" sz="1200" dirty="0"/>
          </a:p>
        </p:txBody>
      </p:sp>
      <p:sp>
        <p:nvSpPr>
          <p:cNvPr id="10" name="Text 7"/>
          <p:cNvSpPr/>
          <p:nvPr/>
        </p:nvSpPr>
        <p:spPr>
          <a:xfrm>
            <a:off x="365760" y="4224528"/>
            <a:ext cx="1828800" cy="438912"/>
          </a:xfrm>
          <a:prstGeom prst="rect">
            <a:avLst/>
          </a:prstGeom>
          <a:noFill/>
          <a:ln/>
        </p:spPr>
        <p:txBody>
          <a:bodyPr wrap="square" lIns="0" tIns="0" rIns="0" bIns="0" rtlCol="0" anchor="ctr"/>
          <a:lstStyle/>
          <a:p>
            <a:pPr marL="0" indent="0">
              <a:buNone/>
            </a:pPr>
            <a:r>
              <a:rPr lang="en-US" sz="1000" dirty="0">
                <a:solidFill>
                  <a:srgbClr val="E8F4F8"/>
                </a:solidFill>
              </a:rPr>
              <a:t>Tren A sigue avanzando en vía común</a:t>
            </a:r>
            <a:endParaRPr lang="en-US" sz="1000" dirty="0"/>
          </a:p>
        </p:txBody>
      </p:sp>
      <p:sp>
        <p:nvSpPr>
          <p:cNvPr id="11" name="Shape 8"/>
          <p:cNvSpPr/>
          <p:nvPr/>
        </p:nvSpPr>
        <p:spPr>
          <a:xfrm>
            <a:off x="2468880" y="3822192"/>
            <a:ext cx="2011680" cy="91440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2" name="Text 9"/>
          <p:cNvSpPr/>
          <p:nvPr/>
        </p:nvSpPr>
        <p:spPr>
          <a:xfrm>
            <a:off x="2560320" y="3886200"/>
            <a:ext cx="1828800" cy="320040"/>
          </a:xfrm>
          <a:prstGeom prst="rect">
            <a:avLst/>
          </a:prstGeom>
          <a:noFill/>
          <a:ln/>
        </p:spPr>
        <p:txBody>
          <a:bodyPr wrap="square" lIns="0" tIns="0" rIns="0" bIns="0" rtlCol="0" anchor="ctr"/>
          <a:lstStyle/>
          <a:p>
            <a:pPr marL="0" indent="0">
              <a:buNone/>
            </a:pPr>
            <a:r>
              <a:rPr lang="en-US" sz="1200" b="1" dirty="0">
                <a:solidFill>
                  <a:srgbClr val="F59E0B"/>
                </a:solidFill>
              </a:rPr>
              <a:t>dirB = 00→01</a:t>
            </a:r>
            <a:endParaRPr lang="en-US" sz="1200" dirty="0"/>
          </a:p>
        </p:txBody>
      </p:sp>
      <p:sp>
        <p:nvSpPr>
          <p:cNvPr id="13" name="Text 10"/>
          <p:cNvSpPr/>
          <p:nvPr/>
        </p:nvSpPr>
        <p:spPr>
          <a:xfrm>
            <a:off x="2560320" y="4224528"/>
            <a:ext cx="1828800" cy="438912"/>
          </a:xfrm>
          <a:prstGeom prst="rect">
            <a:avLst/>
          </a:prstGeom>
          <a:noFill/>
          <a:ln/>
        </p:spPr>
        <p:txBody>
          <a:bodyPr wrap="square" lIns="0" tIns="0" rIns="0" bIns="0" rtlCol="0" anchor="ctr"/>
          <a:lstStyle/>
          <a:p>
            <a:pPr marL="0" indent="0">
              <a:buNone/>
            </a:pPr>
            <a:r>
              <a:rPr lang="en-US" sz="1000" dirty="0">
                <a:solidFill>
                  <a:srgbClr val="E8F4F8"/>
                </a:solidFill>
              </a:rPr>
              <a:t>Tren B: detenido y luego libera</a:t>
            </a:r>
            <a:endParaRPr lang="en-US" sz="1000" dirty="0"/>
          </a:p>
        </p:txBody>
      </p:sp>
      <p:sp>
        <p:nvSpPr>
          <p:cNvPr id="14" name="Shape 11"/>
          <p:cNvSpPr/>
          <p:nvPr/>
        </p:nvSpPr>
        <p:spPr>
          <a:xfrm>
            <a:off x="4663440" y="3822192"/>
            <a:ext cx="2011680" cy="91440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5" name="Text 12"/>
          <p:cNvSpPr/>
          <p:nvPr/>
        </p:nvSpPr>
        <p:spPr>
          <a:xfrm>
            <a:off x="4754880" y="3886200"/>
            <a:ext cx="1828800" cy="320040"/>
          </a:xfrm>
          <a:prstGeom prst="rect">
            <a:avLst/>
          </a:prstGeom>
          <a:noFill/>
          <a:ln/>
        </p:spPr>
        <p:txBody>
          <a:bodyPr wrap="square" lIns="0" tIns="0" rIns="0" bIns="0" rtlCol="0" anchor="ctr"/>
          <a:lstStyle/>
          <a:p>
            <a:pPr marL="0" indent="0">
              <a:buNone/>
            </a:pPr>
            <a:r>
              <a:rPr lang="en-US" sz="1200" b="1" dirty="0">
                <a:solidFill>
                  <a:srgbClr val="0891B2"/>
                </a:solidFill>
              </a:rPr>
              <a:t>S1=S2=1</a:t>
            </a:r>
            <a:endParaRPr lang="en-US" sz="1200" dirty="0"/>
          </a:p>
        </p:txBody>
      </p:sp>
      <p:sp>
        <p:nvSpPr>
          <p:cNvPr id="16" name="Text 13"/>
          <p:cNvSpPr/>
          <p:nvPr/>
        </p:nvSpPr>
        <p:spPr>
          <a:xfrm>
            <a:off x="4754880" y="4224528"/>
            <a:ext cx="1828800" cy="438912"/>
          </a:xfrm>
          <a:prstGeom prst="rect">
            <a:avLst/>
          </a:prstGeom>
          <a:noFill/>
          <a:ln/>
        </p:spPr>
        <p:txBody>
          <a:bodyPr wrap="square" lIns="0" tIns="0" rIns="0" bIns="0" rtlCol="0" anchor="ctr"/>
          <a:lstStyle/>
          <a:p>
            <a:pPr marL="0" indent="0">
              <a:buNone/>
            </a:pPr>
            <a:r>
              <a:rPr lang="en-US" sz="1000" dirty="0">
                <a:solidFill>
                  <a:srgbClr val="E8F4F8"/>
                </a:solidFill>
              </a:rPr>
              <a:t>Ambos sensores activos simultáneamente</a:t>
            </a:r>
            <a:endParaRPr lang="en-US" sz="1000" dirty="0"/>
          </a:p>
        </p:txBody>
      </p:sp>
      <p:sp>
        <p:nvSpPr>
          <p:cNvPr id="17" name="Shape 14"/>
          <p:cNvSpPr/>
          <p:nvPr/>
        </p:nvSpPr>
        <p:spPr>
          <a:xfrm>
            <a:off x="6858000" y="3822192"/>
            <a:ext cx="2011680" cy="91440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8" name="Text 15"/>
          <p:cNvSpPr/>
          <p:nvPr/>
        </p:nvSpPr>
        <p:spPr>
          <a:xfrm>
            <a:off x="6949440" y="3886200"/>
            <a:ext cx="1828800" cy="320040"/>
          </a:xfrm>
          <a:prstGeom prst="rect">
            <a:avLst/>
          </a:prstGeom>
          <a:noFill/>
          <a:ln/>
        </p:spPr>
        <p:txBody>
          <a:bodyPr wrap="square" lIns="0" tIns="0" rIns="0" bIns="0" rtlCol="0" anchor="ctr"/>
          <a:lstStyle/>
          <a:p>
            <a:pPr marL="0" indent="0">
              <a:buNone/>
            </a:pPr>
            <a:r>
              <a:rPr lang="en-US" sz="1200" b="1" dirty="0">
                <a:solidFill>
                  <a:srgbClr val="EF4444"/>
                </a:solidFill>
              </a:rPr>
              <a:t>Bstop activo</a:t>
            </a:r>
            <a:endParaRPr lang="en-US" sz="1200" dirty="0"/>
          </a:p>
        </p:txBody>
      </p:sp>
      <p:sp>
        <p:nvSpPr>
          <p:cNvPr id="19" name="Text 16"/>
          <p:cNvSpPr/>
          <p:nvPr/>
        </p:nvSpPr>
        <p:spPr>
          <a:xfrm>
            <a:off x="6949440" y="4224528"/>
            <a:ext cx="1828800" cy="438912"/>
          </a:xfrm>
          <a:prstGeom prst="rect">
            <a:avLst/>
          </a:prstGeom>
          <a:noFill/>
          <a:ln/>
        </p:spPr>
        <p:txBody>
          <a:bodyPr wrap="square" lIns="0" tIns="0" rIns="0" bIns="0" rtlCol="0" anchor="ctr"/>
          <a:lstStyle/>
          <a:p>
            <a:pPr marL="0" indent="0">
              <a:buNone/>
            </a:pPr>
            <a:r>
              <a:rPr lang="en-US" sz="1000" dirty="0">
                <a:solidFill>
                  <a:srgbClr val="E8F4F8"/>
                </a:solidFill>
              </a:rPr>
              <a:t>B se detiene hasta que A libera vía</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Repositorio GitHub</a:t>
            </a:r>
            <a:endParaRPr lang="en-US" sz="2200" dirty="0"/>
          </a:p>
        </p:txBody>
      </p:sp>
      <p:sp>
        <p:nvSpPr>
          <p:cNvPr id="6" name="Shape 4"/>
          <p:cNvSpPr/>
          <p:nvPr/>
        </p:nvSpPr>
        <p:spPr>
          <a:xfrm>
            <a:off x="274320" y="1234440"/>
            <a:ext cx="4114800" cy="356616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7" name="Text 5"/>
          <p:cNvSpPr/>
          <p:nvPr/>
        </p:nvSpPr>
        <p:spPr>
          <a:xfrm>
            <a:off x="457200" y="1371600"/>
            <a:ext cx="3749040" cy="320040"/>
          </a:xfrm>
          <a:prstGeom prst="rect">
            <a:avLst/>
          </a:prstGeom>
          <a:noFill/>
          <a:ln/>
        </p:spPr>
        <p:txBody>
          <a:bodyPr wrap="square" lIns="0" tIns="0" rIns="0" bIns="0" rtlCol="0" anchor="ctr"/>
          <a:lstStyle/>
          <a:p>
            <a:pPr marL="0" indent="0">
              <a:buNone/>
            </a:pPr>
            <a:r>
              <a:rPr lang="en-US" sz="1300" b="1" dirty="0">
                <a:solidFill>
                  <a:srgbClr val="22D3EE"/>
                </a:solidFill>
              </a:rPr>
              <a:t>Estructura del Repositorio</a:t>
            </a:r>
            <a:endParaRPr lang="en-US" sz="1300" dirty="0"/>
          </a:p>
        </p:txBody>
      </p:sp>
      <p:sp>
        <p:nvSpPr>
          <p:cNvPr id="8" name="Text 6"/>
          <p:cNvSpPr/>
          <p:nvPr/>
        </p:nvSpPr>
        <p:spPr>
          <a:xfrm>
            <a:off x="457200" y="1783080"/>
            <a:ext cx="3749040" cy="2834640"/>
          </a:xfrm>
          <a:prstGeom prst="rect">
            <a:avLst/>
          </a:prstGeom>
          <a:noFill/>
          <a:ln/>
        </p:spPr>
        <p:txBody>
          <a:bodyPr wrap="square" lIns="0" tIns="0" rIns="0" bIns="0" rtlCol="0" anchor="t"/>
          <a:lstStyle/>
          <a:p>
            <a:pPr marL="0" indent="0">
              <a:spcAft>
                <a:spcPts val="300"/>
              </a:spcAft>
              <a:buNone/>
            </a:pPr>
            <a:r>
              <a:rPr lang="en-US" sz="1200" b="1" dirty="0">
                <a:solidFill>
                  <a:srgbClr val="F59E0B"/>
                </a:solidFill>
              </a:rPr>
              <a:t>📁 Tcontrol/</a:t>
            </a:r>
            <a:endParaRPr lang="en-US" sz="1200" dirty="0"/>
          </a:p>
          <a:p>
            <a:pPr marL="0" indent="0">
              <a:spcAft>
                <a:spcPts val="300"/>
              </a:spcAft>
              <a:buNone/>
            </a:pPr>
            <a:r>
              <a:rPr lang="en-US" sz="1100" dirty="0">
                <a:solidFill>
                  <a:srgbClr val="E8F4F8"/>
                </a:solidFill>
                <a:latin typeface="Consolas" pitchFamily="34" charset="0"/>
                <a:ea typeface="Consolas" pitchFamily="34" charset="-122"/>
                <a:cs typeface="Consolas" pitchFamily="34" charset="-120"/>
              </a:rPr>
              <a:t>  ├── Tcontrol.vhd</a:t>
            </a:r>
            <a:endParaRPr lang="en-US" sz="1200" dirty="0"/>
          </a:p>
          <a:p>
            <a:pPr marL="0" indent="0">
              <a:spcAft>
                <a:spcPts val="300"/>
              </a:spcAft>
              <a:buNone/>
            </a:pPr>
            <a:r>
              <a:rPr lang="en-US" sz="1100" dirty="0">
                <a:solidFill>
                  <a:srgbClr val="E8F4F8"/>
                </a:solidFill>
                <a:latin typeface="Consolas" pitchFamily="34" charset="0"/>
                <a:ea typeface="Consolas" pitchFamily="34" charset="-122"/>
                <a:cs typeface="Consolas" pitchFamily="34" charset="-120"/>
              </a:rPr>
              <a:t>  ├── Tcontrol.qpf</a:t>
            </a:r>
            <a:endParaRPr lang="en-US" sz="1200" dirty="0"/>
          </a:p>
          <a:p>
            <a:pPr marL="0" indent="0">
              <a:spcAft>
                <a:spcPts val="300"/>
              </a:spcAft>
              <a:buNone/>
            </a:pPr>
            <a:r>
              <a:rPr lang="en-US" sz="1100" dirty="0">
                <a:solidFill>
                  <a:srgbClr val="E8F4F8"/>
                </a:solidFill>
                <a:latin typeface="Consolas" pitchFamily="34" charset="0"/>
                <a:ea typeface="Consolas" pitchFamily="34" charset="-122"/>
                <a:cs typeface="Consolas" pitchFamily="34" charset="-120"/>
              </a:rPr>
              <a:t>  ├── Tcontrol.qsf</a:t>
            </a:r>
            <a:endParaRPr lang="en-US" sz="1200" dirty="0"/>
          </a:p>
          <a:p>
            <a:pPr marL="0" indent="0">
              <a:spcAft>
                <a:spcPts val="300"/>
              </a:spcAft>
              <a:buNone/>
            </a:pPr>
            <a:r>
              <a:rPr lang="en-US" sz="1100" dirty="0">
                <a:solidFill>
                  <a:srgbClr val="0891B2"/>
                </a:solidFill>
                <a:latin typeface="Consolas" pitchFamily="34" charset="0"/>
                <a:ea typeface="Consolas" pitchFamily="34" charset="-122"/>
                <a:cs typeface="Consolas" pitchFamily="34" charset="-120"/>
              </a:rPr>
              <a:t>  ├── simulation/</a:t>
            </a:r>
            <a:endParaRPr lang="en-US" sz="1200" dirty="0"/>
          </a:p>
          <a:p>
            <a:pPr marL="0" indent="0">
              <a:spcAft>
                <a:spcPts val="300"/>
              </a:spcAft>
              <a:buNone/>
            </a:pPr>
            <a:r>
              <a:rPr lang="en-US" sz="1100" dirty="0">
                <a:solidFill>
                  <a:srgbClr val="E8F4F8"/>
                </a:solidFill>
                <a:latin typeface="Consolas" pitchFamily="34" charset="0"/>
                <a:ea typeface="Consolas" pitchFamily="34" charset="-122"/>
                <a:cs typeface="Consolas" pitchFamily="34" charset="-120"/>
              </a:rPr>
              <a:t>  │   └── *.sim.vwf</a:t>
            </a:r>
            <a:endParaRPr lang="en-US" sz="1200" dirty="0"/>
          </a:p>
          <a:p>
            <a:pPr marL="0" indent="0">
              <a:spcAft>
                <a:spcPts val="300"/>
              </a:spcAft>
              <a:buNone/>
            </a:pPr>
            <a:r>
              <a:rPr lang="en-US" sz="1100" dirty="0">
                <a:solidFill>
                  <a:srgbClr val="0891B2"/>
                </a:solidFill>
                <a:latin typeface="Consolas" pitchFamily="34" charset="0"/>
                <a:ea typeface="Consolas" pitchFamily="34" charset="-122"/>
                <a:cs typeface="Consolas" pitchFamily="34" charset="-120"/>
              </a:rPr>
              <a:t>  ├── output_files/</a:t>
            </a:r>
            <a:endParaRPr lang="en-US" sz="1200" dirty="0"/>
          </a:p>
          <a:p>
            <a:pPr marL="0" indent="0">
              <a:spcAft>
                <a:spcPts val="300"/>
              </a:spcAft>
              <a:buNone/>
            </a:pPr>
            <a:r>
              <a:rPr lang="en-US" sz="1100" dirty="0">
                <a:solidFill>
                  <a:srgbClr val="E8F4F8"/>
                </a:solidFill>
                <a:latin typeface="Consolas" pitchFamily="34" charset="0"/>
                <a:ea typeface="Consolas" pitchFamily="34" charset="-122"/>
                <a:cs typeface="Consolas" pitchFamily="34" charset="-120"/>
              </a:rPr>
              <a:t>  │   └── *.sof  *.pof</a:t>
            </a:r>
            <a:endParaRPr lang="en-US" sz="1200" dirty="0"/>
          </a:p>
          <a:p>
            <a:pPr marL="0" indent="0">
              <a:spcAft>
                <a:spcPts val="300"/>
              </a:spcAft>
              <a:buNone/>
            </a:pPr>
            <a:r>
              <a:rPr lang="en-US" sz="1100" dirty="0">
                <a:solidFill>
                  <a:srgbClr val="10B981"/>
                </a:solidFill>
                <a:latin typeface="Consolas" pitchFamily="34" charset="0"/>
                <a:ea typeface="Consolas" pitchFamily="34" charset="-122"/>
                <a:cs typeface="Consolas" pitchFamily="34" charset="-120"/>
              </a:rPr>
              <a:t>  └── README.md</a:t>
            </a:r>
            <a:endParaRPr lang="en-US" sz="1200" dirty="0"/>
          </a:p>
        </p:txBody>
      </p:sp>
      <p:sp>
        <p:nvSpPr>
          <p:cNvPr id="9" name="Shape 7"/>
          <p:cNvSpPr/>
          <p:nvPr/>
        </p:nvSpPr>
        <p:spPr>
          <a:xfrm>
            <a:off x="4663440" y="1234440"/>
            <a:ext cx="4206240" cy="3566160"/>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0" name="Text 8"/>
          <p:cNvSpPr/>
          <p:nvPr/>
        </p:nvSpPr>
        <p:spPr>
          <a:xfrm>
            <a:off x="4846320" y="1371600"/>
            <a:ext cx="3840480" cy="320040"/>
          </a:xfrm>
          <a:prstGeom prst="rect">
            <a:avLst/>
          </a:prstGeom>
          <a:noFill/>
          <a:ln/>
        </p:spPr>
        <p:txBody>
          <a:bodyPr wrap="square" lIns="0" tIns="0" rIns="0" bIns="0" rtlCol="0" anchor="ctr"/>
          <a:lstStyle/>
          <a:p>
            <a:pPr marL="0" indent="0">
              <a:buNone/>
            </a:pPr>
            <a:r>
              <a:rPr lang="en-US" sz="1300" b="1" dirty="0">
                <a:solidFill>
                  <a:srgbClr val="22D3EE"/>
                </a:solidFill>
              </a:rPr>
              <a:t>Procedimiento de Subida</a:t>
            </a:r>
            <a:endParaRPr lang="en-US" sz="1300" dirty="0"/>
          </a:p>
        </p:txBody>
      </p:sp>
      <p:sp>
        <p:nvSpPr>
          <p:cNvPr id="11" name="Text 9"/>
          <p:cNvSpPr/>
          <p:nvPr/>
        </p:nvSpPr>
        <p:spPr>
          <a:xfrm>
            <a:off x="4846320" y="1783080"/>
            <a:ext cx="3840480" cy="365760"/>
          </a:xfrm>
          <a:prstGeom prst="rect">
            <a:avLst/>
          </a:prstGeom>
          <a:noFill/>
          <a:ln/>
        </p:spPr>
        <p:txBody>
          <a:bodyPr wrap="square" lIns="0" tIns="0" rIns="0" bIns="0" rtlCol="0" anchor="ctr"/>
          <a:lstStyle/>
          <a:p>
            <a:pPr marL="0" indent="0">
              <a:buNone/>
            </a:pPr>
            <a:r>
              <a:rPr lang="en-US" sz="1050" dirty="0">
                <a:solidFill>
                  <a:srgbClr val="E8F4F8"/>
                </a:solidFill>
                <a:latin typeface="Consolas" pitchFamily="34" charset="0"/>
                <a:ea typeface="Consolas" pitchFamily="34" charset="-122"/>
                <a:cs typeface="Consolas" pitchFamily="34" charset="-120"/>
              </a:rPr>
              <a:t>1.  git init  —  Inicializar repositorio local</a:t>
            </a:r>
            <a:endParaRPr lang="en-US" sz="1050" dirty="0"/>
          </a:p>
        </p:txBody>
      </p:sp>
      <p:sp>
        <p:nvSpPr>
          <p:cNvPr id="12" name="Text 10"/>
          <p:cNvSpPr/>
          <p:nvPr/>
        </p:nvSpPr>
        <p:spPr>
          <a:xfrm>
            <a:off x="4846320" y="2221992"/>
            <a:ext cx="3840480" cy="365760"/>
          </a:xfrm>
          <a:prstGeom prst="rect">
            <a:avLst/>
          </a:prstGeom>
          <a:noFill/>
          <a:ln/>
        </p:spPr>
        <p:txBody>
          <a:bodyPr wrap="square" lIns="0" tIns="0" rIns="0" bIns="0" rtlCol="0" anchor="ctr"/>
          <a:lstStyle/>
          <a:p>
            <a:pPr marL="0" indent="0">
              <a:buNone/>
            </a:pPr>
            <a:r>
              <a:rPr lang="en-US" sz="1050" dirty="0">
                <a:solidFill>
                  <a:srgbClr val="E8F4F8"/>
                </a:solidFill>
                <a:latin typeface="Consolas" pitchFamily="34" charset="0"/>
                <a:ea typeface="Consolas" pitchFamily="34" charset="-122"/>
                <a:cs typeface="Consolas" pitchFamily="34" charset="-120"/>
              </a:rPr>
              <a:t>2.  git add .  —  Agregar todos los archivos del proyecto</a:t>
            </a:r>
            <a:endParaRPr lang="en-US" sz="1050" dirty="0"/>
          </a:p>
        </p:txBody>
      </p:sp>
      <p:sp>
        <p:nvSpPr>
          <p:cNvPr id="13" name="Text 11"/>
          <p:cNvSpPr/>
          <p:nvPr/>
        </p:nvSpPr>
        <p:spPr>
          <a:xfrm>
            <a:off x="4846320" y="2660904"/>
            <a:ext cx="3840480" cy="365760"/>
          </a:xfrm>
          <a:prstGeom prst="rect">
            <a:avLst/>
          </a:prstGeom>
          <a:noFill/>
          <a:ln/>
        </p:spPr>
        <p:txBody>
          <a:bodyPr wrap="square" lIns="0" tIns="0" rIns="0" bIns="0" rtlCol="0" anchor="ctr"/>
          <a:lstStyle/>
          <a:p>
            <a:pPr marL="0" indent="0">
              <a:buNone/>
            </a:pPr>
            <a:r>
              <a:rPr lang="en-US" sz="1050" dirty="0">
                <a:solidFill>
                  <a:srgbClr val="E8F4F8"/>
                </a:solidFill>
                <a:latin typeface="Consolas" pitchFamily="34" charset="0"/>
                <a:ea typeface="Consolas" pitchFamily="34" charset="-122"/>
                <a:cs typeface="Consolas" pitchFamily="34" charset="-120"/>
              </a:rPr>
              <a:t>3.  git commit -m "Parcial 2 — Tcontrol VHDL"</a:t>
            </a:r>
            <a:endParaRPr lang="en-US" sz="1050" dirty="0"/>
          </a:p>
        </p:txBody>
      </p:sp>
      <p:sp>
        <p:nvSpPr>
          <p:cNvPr id="14" name="Text 12"/>
          <p:cNvSpPr/>
          <p:nvPr/>
        </p:nvSpPr>
        <p:spPr>
          <a:xfrm>
            <a:off x="4846320" y="3099816"/>
            <a:ext cx="3840480" cy="3657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4.  Crear repositorio en GitHub (público o privado)</a:t>
            </a:r>
            <a:endParaRPr lang="en-US" sz="1050" dirty="0"/>
          </a:p>
        </p:txBody>
      </p:sp>
      <p:sp>
        <p:nvSpPr>
          <p:cNvPr id="15" name="Text 13"/>
          <p:cNvSpPr/>
          <p:nvPr/>
        </p:nvSpPr>
        <p:spPr>
          <a:xfrm>
            <a:off x="4846320" y="3538728"/>
            <a:ext cx="3840480" cy="3657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5.  git remote add origin &lt;URL_repositorio&gt;</a:t>
            </a:r>
            <a:endParaRPr lang="en-US" sz="1050" dirty="0"/>
          </a:p>
        </p:txBody>
      </p:sp>
      <p:sp>
        <p:nvSpPr>
          <p:cNvPr id="16" name="Text 14"/>
          <p:cNvSpPr/>
          <p:nvPr/>
        </p:nvSpPr>
        <p:spPr>
          <a:xfrm>
            <a:off x="4846320" y="3977640"/>
            <a:ext cx="3840480" cy="3657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6.  git push -u origin main  —  Subir al servidor</a:t>
            </a:r>
            <a:endParaRPr lang="en-US" sz="1050" dirty="0"/>
          </a:p>
        </p:txBody>
      </p:sp>
      <p:sp>
        <p:nvSpPr>
          <p:cNvPr id="17" name="Text 15"/>
          <p:cNvSpPr/>
          <p:nvPr/>
        </p:nvSpPr>
        <p:spPr>
          <a:xfrm>
            <a:off x="4846320" y="4416552"/>
            <a:ext cx="3840480" cy="3657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7.  Verificar en GitHub que los archivos están correctos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5C"/>
          </a:solidFill>
          <a:ln w="12700">
            <a:solidFill>
              <a:srgbClr val="1B3A5C"/>
            </a:solidFill>
            <a:prstDash val="solid"/>
          </a:ln>
        </p:spPr>
        <p:txBody>
          <a:bodyPr/>
          <a:lstStyle/>
          <a:p>
            <a:endParaRPr lang="es-CO"/>
          </a:p>
        </p:txBody>
      </p:sp>
      <p:sp>
        <p:nvSpPr>
          <p:cNvPr id="3" name="Shape 1"/>
          <p:cNvSpPr/>
          <p:nvPr/>
        </p:nvSpPr>
        <p:spPr>
          <a:xfrm>
            <a:off x="0" y="777240"/>
            <a:ext cx="9144000" cy="45720"/>
          </a:xfrm>
          <a:prstGeom prst="rect">
            <a:avLst/>
          </a:prstGeom>
          <a:solidFill>
            <a:srgbClr val="0891B2"/>
          </a:solidFill>
          <a:ln w="12700">
            <a:solidFill>
              <a:srgbClr val="0891B2"/>
            </a:solidFill>
            <a:prstDash val="solid"/>
          </a:ln>
        </p:spPr>
        <p:txBody>
          <a:bodyPr/>
          <a:lstStyle/>
          <a:p>
            <a:endParaRPr lang="es-CO"/>
          </a:p>
        </p:txBody>
      </p:sp>
      <p:sp>
        <p:nvSpPr>
          <p:cNvPr id="4" name="Text 2"/>
          <p:cNvSpPr/>
          <p:nvPr/>
        </p:nvSpPr>
        <p:spPr>
          <a:xfrm>
            <a:off x="274320" y="45720"/>
            <a:ext cx="8595360" cy="685800"/>
          </a:xfrm>
          <a:prstGeom prst="rect">
            <a:avLst/>
          </a:prstGeom>
          <a:noFill/>
          <a:ln/>
        </p:spPr>
        <p:txBody>
          <a:bodyPr wrap="square" lIns="0" tIns="0" rIns="0" bIns="0" rtlCol="0" anchor="ctr"/>
          <a:lstStyle/>
          <a:p>
            <a:pPr marL="0" indent="0">
              <a:buNone/>
            </a:pPr>
            <a:r>
              <a:rPr lang="en-US" sz="2200" b="1" dirty="0">
                <a:solidFill>
                  <a:srgbClr val="FFFFFF"/>
                </a:solidFill>
              </a:rPr>
              <a:t>Conclusiones</a:t>
            </a:r>
            <a:endParaRPr lang="en-US" sz="2200" dirty="0"/>
          </a:p>
        </p:txBody>
      </p:sp>
      <p:sp>
        <p:nvSpPr>
          <p:cNvPr id="6" name="Shape 4"/>
          <p:cNvSpPr/>
          <p:nvPr/>
        </p:nvSpPr>
        <p:spPr>
          <a:xfrm>
            <a:off x="274320" y="1234440"/>
            <a:ext cx="8595360" cy="676656"/>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7" name="Shape 5"/>
          <p:cNvSpPr/>
          <p:nvPr/>
        </p:nvSpPr>
        <p:spPr>
          <a:xfrm>
            <a:off x="274320" y="1234440"/>
            <a:ext cx="109728" cy="676656"/>
          </a:xfrm>
          <a:prstGeom prst="rect">
            <a:avLst/>
          </a:prstGeom>
          <a:solidFill>
            <a:srgbClr val="10B981"/>
          </a:solidFill>
          <a:ln w="12700">
            <a:solidFill>
              <a:srgbClr val="10B981"/>
            </a:solidFill>
            <a:prstDash val="solid"/>
          </a:ln>
        </p:spPr>
        <p:txBody>
          <a:bodyPr/>
          <a:lstStyle/>
          <a:p>
            <a:endParaRPr lang="es-CO"/>
          </a:p>
        </p:txBody>
      </p:sp>
      <p:sp>
        <p:nvSpPr>
          <p:cNvPr id="8" name="Text 6"/>
          <p:cNvSpPr/>
          <p:nvPr/>
        </p:nvSpPr>
        <p:spPr>
          <a:xfrm>
            <a:off x="502920" y="1289304"/>
            <a:ext cx="2560320" cy="274320"/>
          </a:xfrm>
          <a:prstGeom prst="rect">
            <a:avLst/>
          </a:prstGeom>
          <a:noFill/>
          <a:ln/>
        </p:spPr>
        <p:txBody>
          <a:bodyPr wrap="square" lIns="0" tIns="0" rIns="0" bIns="0" rtlCol="0" anchor="ctr"/>
          <a:lstStyle/>
          <a:p>
            <a:pPr marL="0" indent="0">
              <a:buNone/>
            </a:pPr>
            <a:r>
              <a:rPr lang="en-US" sz="1200" b="1" dirty="0">
                <a:solidFill>
                  <a:srgbClr val="10B981"/>
                </a:solidFill>
              </a:rPr>
              <a:t>Diseño FSM en VHDL</a:t>
            </a:r>
            <a:endParaRPr lang="en-US" sz="1200" dirty="0"/>
          </a:p>
        </p:txBody>
      </p:sp>
      <p:sp>
        <p:nvSpPr>
          <p:cNvPr id="9" name="Text 7"/>
          <p:cNvSpPr/>
          <p:nvPr/>
        </p:nvSpPr>
        <p:spPr>
          <a:xfrm>
            <a:off x="502920" y="1581912"/>
            <a:ext cx="8138160" cy="274320"/>
          </a:xfrm>
          <a:prstGeom prst="rect">
            <a:avLst/>
          </a:prstGeom>
          <a:noFill/>
          <a:ln/>
        </p:spPr>
        <p:txBody>
          <a:bodyPr wrap="square" lIns="0" tIns="0" rIns="0" bIns="0" rtlCol="0" anchor="ctr"/>
          <a:lstStyle/>
          <a:p>
            <a:pPr marL="0" indent="0">
              <a:buNone/>
            </a:pPr>
            <a:r>
              <a:rPr lang="en-US" sz="1050" dirty="0">
                <a:solidFill>
                  <a:srgbClr val="E8F4F8"/>
                </a:solidFill>
              </a:rPr>
              <a:t>Se logró implementar exitosamente una Máquina de Estados Finitos en VHDL que controla de forma segura el tráfico de dos trenes, evitando colisiones mediante la gestión de estados ABout, Ain, Bin, Bstop y Astop.</a:t>
            </a:r>
            <a:endParaRPr lang="en-US" sz="1050" dirty="0"/>
          </a:p>
        </p:txBody>
      </p:sp>
      <p:sp>
        <p:nvSpPr>
          <p:cNvPr id="10" name="Shape 8"/>
          <p:cNvSpPr/>
          <p:nvPr/>
        </p:nvSpPr>
        <p:spPr>
          <a:xfrm>
            <a:off x="274320" y="1993392"/>
            <a:ext cx="8595360" cy="676656"/>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1" name="Shape 9"/>
          <p:cNvSpPr/>
          <p:nvPr/>
        </p:nvSpPr>
        <p:spPr>
          <a:xfrm>
            <a:off x="274320" y="1993392"/>
            <a:ext cx="109728" cy="676656"/>
          </a:xfrm>
          <a:prstGeom prst="rect">
            <a:avLst/>
          </a:prstGeom>
          <a:solidFill>
            <a:srgbClr val="0891B2"/>
          </a:solidFill>
          <a:ln w="12700">
            <a:solidFill>
              <a:srgbClr val="0891B2"/>
            </a:solidFill>
            <a:prstDash val="solid"/>
          </a:ln>
        </p:spPr>
        <p:txBody>
          <a:bodyPr/>
          <a:lstStyle/>
          <a:p>
            <a:endParaRPr lang="es-CO"/>
          </a:p>
        </p:txBody>
      </p:sp>
      <p:sp>
        <p:nvSpPr>
          <p:cNvPr id="12" name="Text 10"/>
          <p:cNvSpPr/>
          <p:nvPr/>
        </p:nvSpPr>
        <p:spPr>
          <a:xfrm>
            <a:off x="502920" y="2048256"/>
            <a:ext cx="2560320" cy="274320"/>
          </a:xfrm>
          <a:prstGeom prst="rect">
            <a:avLst/>
          </a:prstGeom>
          <a:noFill/>
          <a:ln/>
        </p:spPr>
        <p:txBody>
          <a:bodyPr wrap="square" lIns="0" tIns="0" rIns="0" bIns="0" rtlCol="0" anchor="ctr"/>
          <a:lstStyle/>
          <a:p>
            <a:pPr marL="0" indent="0">
              <a:buNone/>
            </a:pPr>
            <a:r>
              <a:rPr lang="en-US" sz="1200" b="1" dirty="0">
                <a:solidFill>
                  <a:srgbClr val="0891B2"/>
                </a:solidFill>
              </a:rPr>
              <a:t>Síntesis y RTL</a:t>
            </a:r>
            <a:endParaRPr lang="en-US" sz="1200" dirty="0"/>
          </a:p>
        </p:txBody>
      </p:sp>
      <p:sp>
        <p:nvSpPr>
          <p:cNvPr id="13" name="Text 11"/>
          <p:cNvSpPr/>
          <p:nvPr/>
        </p:nvSpPr>
        <p:spPr>
          <a:xfrm>
            <a:off x="502920" y="2340864"/>
            <a:ext cx="8138160" cy="274320"/>
          </a:xfrm>
          <a:prstGeom prst="rect">
            <a:avLst/>
          </a:prstGeom>
          <a:noFill/>
          <a:ln/>
        </p:spPr>
        <p:txBody>
          <a:bodyPr wrap="square" lIns="0" tIns="0" rIns="0" bIns="0" rtlCol="0" anchor="ctr"/>
          <a:lstStyle/>
          <a:p>
            <a:pPr marL="0" indent="0">
              <a:buNone/>
            </a:pPr>
            <a:r>
              <a:rPr lang="en-US" sz="1050" dirty="0">
                <a:solidFill>
                  <a:srgbClr val="E8F4F8"/>
                </a:solidFill>
              </a:rPr>
              <a:t>La síntesis en Quartus Prime generó un RTL limpio donde se pueden identificar claramente el bloque de estado, las compuertas lógicas para los switches y los inversores para las señales de dirección.</a:t>
            </a:r>
            <a:endParaRPr lang="en-US" sz="1050" dirty="0"/>
          </a:p>
        </p:txBody>
      </p:sp>
      <p:sp>
        <p:nvSpPr>
          <p:cNvPr id="14" name="Shape 12"/>
          <p:cNvSpPr/>
          <p:nvPr/>
        </p:nvSpPr>
        <p:spPr>
          <a:xfrm>
            <a:off x="274320" y="2752344"/>
            <a:ext cx="8595360" cy="676656"/>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5" name="Shape 13"/>
          <p:cNvSpPr/>
          <p:nvPr/>
        </p:nvSpPr>
        <p:spPr>
          <a:xfrm>
            <a:off x="274320" y="2752344"/>
            <a:ext cx="109728" cy="676656"/>
          </a:xfrm>
          <a:prstGeom prst="rect">
            <a:avLst/>
          </a:prstGeom>
          <a:solidFill>
            <a:srgbClr val="F59E0B"/>
          </a:solidFill>
          <a:ln w="12700">
            <a:solidFill>
              <a:srgbClr val="F59E0B"/>
            </a:solidFill>
            <a:prstDash val="solid"/>
          </a:ln>
        </p:spPr>
        <p:txBody>
          <a:bodyPr/>
          <a:lstStyle/>
          <a:p>
            <a:endParaRPr lang="es-CO"/>
          </a:p>
        </p:txBody>
      </p:sp>
      <p:sp>
        <p:nvSpPr>
          <p:cNvPr id="16" name="Text 14"/>
          <p:cNvSpPr/>
          <p:nvPr/>
        </p:nvSpPr>
        <p:spPr>
          <a:xfrm>
            <a:off x="502920" y="2807208"/>
            <a:ext cx="2560320" cy="274320"/>
          </a:xfrm>
          <a:prstGeom prst="rect">
            <a:avLst/>
          </a:prstGeom>
          <a:noFill/>
          <a:ln/>
        </p:spPr>
        <p:txBody>
          <a:bodyPr wrap="square" lIns="0" tIns="0" rIns="0" bIns="0" rtlCol="0" anchor="ctr"/>
          <a:lstStyle/>
          <a:p>
            <a:pPr marL="0" indent="0">
              <a:buNone/>
            </a:pPr>
            <a:r>
              <a:rPr lang="en-US" sz="1200" b="1" dirty="0">
                <a:solidFill>
                  <a:srgbClr val="F59E0B"/>
                </a:solidFill>
              </a:rPr>
              <a:t>Verificación por Simulación</a:t>
            </a:r>
            <a:endParaRPr lang="en-US" sz="1200" dirty="0"/>
          </a:p>
        </p:txBody>
      </p:sp>
      <p:sp>
        <p:nvSpPr>
          <p:cNvPr id="17" name="Text 15"/>
          <p:cNvSpPr/>
          <p:nvPr/>
        </p:nvSpPr>
        <p:spPr>
          <a:xfrm>
            <a:off x="502920" y="3099816"/>
            <a:ext cx="8138160" cy="274320"/>
          </a:xfrm>
          <a:prstGeom prst="rect">
            <a:avLst/>
          </a:prstGeom>
          <a:noFill/>
          <a:ln/>
        </p:spPr>
        <p:txBody>
          <a:bodyPr wrap="square" lIns="0" tIns="0" rIns="0" bIns="0" rtlCol="0" anchor="ctr"/>
          <a:lstStyle/>
          <a:p>
            <a:pPr marL="0" indent="0">
              <a:buNone/>
            </a:pPr>
            <a:r>
              <a:rPr lang="en-US" sz="1050" dirty="0">
                <a:solidFill>
                  <a:srgbClr val="E8F4F8"/>
                </a:solidFill>
              </a:rPr>
              <a:t>Las simulaciones confirmaron el correcto comportamiento del controlador: el Tren B se detiene (dirB='00') cuando el Tren A ocupa la vía común, y los interruptores cambian según el estado activo.</a:t>
            </a:r>
            <a:endParaRPr lang="en-US" sz="1050" dirty="0"/>
          </a:p>
        </p:txBody>
      </p:sp>
      <p:sp>
        <p:nvSpPr>
          <p:cNvPr id="18" name="Shape 16"/>
          <p:cNvSpPr/>
          <p:nvPr/>
        </p:nvSpPr>
        <p:spPr>
          <a:xfrm>
            <a:off x="274320" y="3511296"/>
            <a:ext cx="8595360" cy="676656"/>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19" name="Shape 17"/>
          <p:cNvSpPr/>
          <p:nvPr/>
        </p:nvSpPr>
        <p:spPr>
          <a:xfrm>
            <a:off x="274320" y="3511296"/>
            <a:ext cx="109728" cy="676656"/>
          </a:xfrm>
          <a:prstGeom prst="rect">
            <a:avLst/>
          </a:prstGeom>
          <a:solidFill>
            <a:srgbClr val="EF4444"/>
          </a:solidFill>
          <a:ln w="12700">
            <a:solidFill>
              <a:srgbClr val="EF4444"/>
            </a:solidFill>
            <a:prstDash val="solid"/>
          </a:ln>
        </p:spPr>
        <p:txBody>
          <a:bodyPr/>
          <a:lstStyle/>
          <a:p>
            <a:endParaRPr lang="es-CO"/>
          </a:p>
        </p:txBody>
      </p:sp>
      <p:sp>
        <p:nvSpPr>
          <p:cNvPr id="20" name="Text 18"/>
          <p:cNvSpPr/>
          <p:nvPr/>
        </p:nvSpPr>
        <p:spPr>
          <a:xfrm>
            <a:off x="502920" y="3566160"/>
            <a:ext cx="2560320" cy="274320"/>
          </a:xfrm>
          <a:prstGeom prst="rect">
            <a:avLst/>
          </a:prstGeom>
          <a:noFill/>
          <a:ln/>
        </p:spPr>
        <p:txBody>
          <a:bodyPr wrap="square" lIns="0" tIns="0" rIns="0" bIns="0" rtlCol="0" anchor="ctr"/>
          <a:lstStyle/>
          <a:p>
            <a:pPr marL="0" indent="0">
              <a:buNone/>
            </a:pPr>
            <a:r>
              <a:rPr lang="en-US" sz="1200" b="1" dirty="0">
                <a:solidFill>
                  <a:srgbClr val="EF4444"/>
                </a:solidFill>
              </a:rPr>
              <a:t>Principio de Exclusión Mutua</a:t>
            </a:r>
            <a:endParaRPr lang="en-US" sz="1200" dirty="0"/>
          </a:p>
        </p:txBody>
      </p:sp>
      <p:sp>
        <p:nvSpPr>
          <p:cNvPr id="21" name="Text 19"/>
          <p:cNvSpPr/>
          <p:nvPr/>
        </p:nvSpPr>
        <p:spPr>
          <a:xfrm>
            <a:off x="502920" y="3858768"/>
            <a:ext cx="8138160" cy="274320"/>
          </a:xfrm>
          <a:prstGeom prst="rect">
            <a:avLst/>
          </a:prstGeom>
          <a:noFill/>
          <a:ln/>
        </p:spPr>
        <p:txBody>
          <a:bodyPr wrap="square" lIns="0" tIns="0" rIns="0" bIns="0" rtlCol="0" anchor="ctr"/>
          <a:lstStyle/>
          <a:p>
            <a:pPr marL="0" indent="0">
              <a:buNone/>
            </a:pPr>
            <a:r>
              <a:rPr lang="en-US" sz="1050" dirty="0">
                <a:solidFill>
                  <a:srgbClr val="E8F4F8"/>
                </a:solidFill>
              </a:rPr>
              <a:t>La FSM garantiza que solo un tren ocupe la vía común en cualquier momento, implementando exclusión mutua de hardware mediante señales de sensores y control de dirección.</a:t>
            </a:r>
            <a:endParaRPr lang="en-US" sz="1050" dirty="0"/>
          </a:p>
        </p:txBody>
      </p:sp>
      <p:sp>
        <p:nvSpPr>
          <p:cNvPr id="22" name="Shape 20"/>
          <p:cNvSpPr/>
          <p:nvPr/>
        </p:nvSpPr>
        <p:spPr>
          <a:xfrm>
            <a:off x="274320" y="4270248"/>
            <a:ext cx="8595360" cy="676656"/>
          </a:xfrm>
          <a:prstGeom prst="rect">
            <a:avLst/>
          </a:prstGeom>
          <a:solidFill>
            <a:srgbClr val="162537"/>
          </a:solidFill>
          <a:ln w="10160">
            <a:solidFill>
              <a:srgbClr val="0891B2"/>
            </a:solidFill>
            <a:prstDash val="solid"/>
          </a:ln>
          <a:effectLst>
            <a:outerShdw blurRad="76200" dist="25400" dir="8100000" algn="bl" rotWithShape="0">
              <a:srgbClr val="000000">
                <a:alpha val="30000"/>
              </a:srgbClr>
            </a:outerShdw>
          </a:effectLst>
        </p:spPr>
        <p:txBody>
          <a:bodyPr/>
          <a:lstStyle/>
          <a:p>
            <a:endParaRPr lang="es-CO"/>
          </a:p>
        </p:txBody>
      </p:sp>
      <p:sp>
        <p:nvSpPr>
          <p:cNvPr id="23" name="Shape 21"/>
          <p:cNvSpPr/>
          <p:nvPr/>
        </p:nvSpPr>
        <p:spPr>
          <a:xfrm>
            <a:off x="274320" y="4270248"/>
            <a:ext cx="109728" cy="676656"/>
          </a:xfrm>
          <a:prstGeom prst="rect">
            <a:avLst/>
          </a:prstGeom>
          <a:solidFill>
            <a:srgbClr val="22D3EE"/>
          </a:solidFill>
          <a:ln w="12700">
            <a:solidFill>
              <a:srgbClr val="22D3EE"/>
            </a:solidFill>
            <a:prstDash val="solid"/>
          </a:ln>
        </p:spPr>
        <p:txBody>
          <a:bodyPr/>
          <a:lstStyle/>
          <a:p>
            <a:endParaRPr lang="es-CO"/>
          </a:p>
        </p:txBody>
      </p:sp>
      <p:sp>
        <p:nvSpPr>
          <p:cNvPr id="24" name="Text 22"/>
          <p:cNvSpPr/>
          <p:nvPr/>
        </p:nvSpPr>
        <p:spPr>
          <a:xfrm>
            <a:off x="502920" y="4325112"/>
            <a:ext cx="2560320" cy="274320"/>
          </a:xfrm>
          <a:prstGeom prst="rect">
            <a:avLst/>
          </a:prstGeom>
          <a:noFill/>
          <a:ln/>
        </p:spPr>
        <p:txBody>
          <a:bodyPr wrap="square" lIns="0" tIns="0" rIns="0" bIns="0" rtlCol="0" anchor="ctr"/>
          <a:lstStyle/>
          <a:p>
            <a:pPr marL="0" indent="0">
              <a:buNone/>
            </a:pPr>
            <a:r>
              <a:rPr lang="en-US" sz="1200" b="1" dirty="0">
                <a:solidFill>
                  <a:srgbClr val="22D3EE"/>
                </a:solidFill>
              </a:rPr>
              <a:t>Dominio de Herramientas</a:t>
            </a:r>
            <a:endParaRPr lang="en-US" sz="1200" dirty="0"/>
          </a:p>
        </p:txBody>
      </p:sp>
      <p:sp>
        <p:nvSpPr>
          <p:cNvPr id="25" name="Text 23"/>
          <p:cNvSpPr/>
          <p:nvPr/>
        </p:nvSpPr>
        <p:spPr>
          <a:xfrm>
            <a:off x="502920" y="4617720"/>
            <a:ext cx="8138160" cy="274320"/>
          </a:xfrm>
          <a:prstGeom prst="rect">
            <a:avLst/>
          </a:prstGeom>
          <a:noFill/>
          <a:ln/>
        </p:spPr>
        <p:txBody>
          <a:bodyPr wrap="square" lIns="0" tIns="0" rIns="0" bIns="0" rtlCol="0" anchor="ctr"/>
          <a:lstStyle/>
          <a:p>
            <a:pPr marL="0" indent="0">
              <a:buNone/>
            </a:pPr>
            <a:r>
              <a:rPr lang="en-US" sz="1050" dirty="0">
                <a:solidFill>
                  <a:srgbClr val="E8F4F8"/>
                </a:solidFill>
              </a:rPr>
              <a:t>Se adquirió experiencia en el flujo completo de diseño digital: codificación VHDL → síntesis → simulación funcional → análisis RTL → control de versiones con Git/GitHub.</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0891B2"/>
          </a:solidFill>
          <a:ln w="12700">
            <a:solidFill>
              <a:srgbClr val="0891B2"/>
            </a:solidFill>
            <a:prstDash val="solid"/>
          </a:ln>
        </p:spPr>
        <p:txBody>
          <a:bodyPr/>
          <a:lstStyle/>
          <a:p>
            <a:endParaRPr lang="es-CO"/>
          </a:p>
        </p:txBody>
      </p:sp>
      <p:sp>
        <p:nvSpPr>
          <p:cNvPr id="3" name="Shape 1"/>
          <p:cNvSpPr/>
          <p:nvPr/>
        </p:nvSpPr>
        <p:spPr>
          <a:xfrm>
            <a:off x="0" y="5006340"/>
            <a:ext cx="9144000" cy="137160"/>
          </a:xfrm>
          <a:prstGeom prst="rect">
            <a:avLst/>
          </a:prstGeom>
          <a:solidFill>
            <a:srgbClr val="0891B2"/>
          </a:solidFill>
          <a:ln w="12700">
            <a:solidFill>
              <a:srgbClr val="0891B2"/>
            </a:solidFill>
            <a:prstDash val="solid"/>
          </a:ln>
        </p:spPr>
        <p:txBody>
          <a:bodyPr/>
          <a:lstStyle/>
          <a:p>
            <a:endParaRPr lang="es-CO"/>
          </a:p>
        </p:txBody>
      </p:sp>
      <p:sp>
        <p:nvSpPr>
          <p:cNvPr id="4" name="Shape 2"/>
          <p:cNvSpPr/>
          <p:nvPr/>
        </p:nvSpPr>
        <p:spPr>
          <a:xfrm>
            <a:off x="-914400" y="914400"/>
            <a:ext cx="3657600" cy="3657600"/>
          </a:xfrm>
          <a:prstGeom prst="ellipse">
            <a:avLst/>
          </a:prstGeom>
          <a:solidFill>
            <a:srgbClr val="1B3A5C"/>
          </a:solidFill>
          <a:ln w="12700">
            <a:solidFill>
              <a:srgbClr val="0891B2"/>
            </a:solidFill>
            <a:prstDash val="solid"/>
          </a:ln>
        </p:spPr>
        <p:txBody>
          <a:bodyPr/>
          <a:lstStyle/>
          <a:p>
            <a:endParaRPr lang="es-CO"/>
          </a:p>
        </p:txBody>
      </p:sp>
      <p:sp>
        <p:nvSpPr>
          <p:cNvPr id="5" name="Shape 3"/>
          <p:cNvSpPr/>
          <p:nvPr/>
        </p:nvSpPr>
        <p:spPr>
          <a:xfrm>
            <a:off x="6858000" y="457200"/>
            <a:ext cx="2743200" cy="2743200"/>
          </a:xfrm>
          <a:prstGeom prst="ellipse">
            <a:avLst/>
          </a:prstGeom>
          <a:solidFill>
            <a:srgbClr val="162537"/>
          </a:solidFill>
          <a:ln w="12700">
            <a:solidFill>
              <a:srgbClr val="0891B2"/>
            </a:solidFill>
            <a:prstDash val="solid"/>
          </a:ln>
        </p:spPr>
        <p:txBody>
          <a:bodyPr/>
          <a:lstStyle/>
          <a:p>
            <a:endParaRPr lang="es-CO"/>
          </a:p>
        </p:txBody>
      </p:sp>
      <p:sp>
        <p:nvSpPr>
          <p:cNvPr id="6" name="Text 4"/>
          <p:cNvSpPr/>
          <p:nvPr/>
        </p:nvSpPr>
        <p:spPr>
          <a:xfrm>
            <a:off x="914400" y="1188720"/>
            <a:ext cx="7315200" cy="1097280"/>
          </a:xfrm>
          <a:prstGeom prst="rect">
            <a:avLst/>
          </a:prstGeom>
          <a:noFill/>
          <a:ln/>
        </p:spPr>
        <p:txBody>
          <a:bodyPr wrap="square" rtlCol="0" anchor="ctr"/>
          <a:lstStyle/>
          <a:p>
            <a:pPr marL="0" indent="0" algn="ctr">
              <a:buNone/>
            </a:pPr>
            <a:r>
              <a:rPr lang="en-US" sz="5400" b="1" dirty="0">
                <a:solidFill>
                  <a:srgbClr val="FFFFFF"/>
                </a:solidFill>
              </a:rPr>
              <a:t>¡Gracias!</a:t>
            </a:r>
            <a:endParaRPr lang="en-US" sz="5400" dirty="0"/>
          </a:p>
        </p:txBody>
      </p:sp>
      <p:sp>
        <p:nvSpPr>
          <p:cNvPr id="8" name="Shape 6"/>
          <p:cNvSpPr/>
          <p:nvPr/>
        </p:nvSpPr>
        <p:spPr>
          <a:xfrm>
            <a:off x="3200400" y="2971800"/>
            <a:ext cx="2743200" cy="45720"/>
          </a:xfrm>
          <a:prstGeom prst="rect">
            <a:avLst/>
          </a:prstGeom>
          <a:solidFill>
            <a:srgbClr val="0891B2"/>
          </a:solidFill>
          <a:ln w="12700">
            <a:solidFill>
              <a:srgbClr val="0891B2"/>
            </a:solidFill>
            <a:prstDash val="solid"/>
          </a:ln>
        </p:spPr>
        <p:txBody>
          <a:bodyPr/>
          <a:lstStyle/>
          <a:p>
            <a:endParaRPr lang="es-CO"/>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1768</Words>
  <Application>Microsoft Office PowerPoint</Application>
  <PresentationFormat>Presentación en pantalla (16:9)</PresentationFormat>
  <Paragraphs>306</Paragraphs>
  <Slides>18</Slides>
  <Notes>18</Notes>
  <HiddenSlides>0</HiddenSlides>
  <MMClips>0</MMClips>
  <ScaleCrop>false</ScaleCrop>
  <HeadingPairs>
    <vt:vector size="4" baseType="variant">
      <vt:variant>
        <vt:lpstr>Tema</vt:lpstr>
      </vt:variant>
      <vt:variant>
        <vt:i4>1</vt:i4>
      </vt:variant>
      <vt:variant>
        <vt:lpstr>Títulos de diapositiva</vt:lpstr>
      </vt:variant>
      <vt:variant>
        <vt:i4>18</vt:i4>
      </vt:variant>
    </vt:vector>
  </HeadingPairs>
  <TitlesOfParts>
    <vt:vector size="19" baseType="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Controlador de Tren Eléctrico - Máquina de Estados</dc:title>
  <dc:subject>PptxGenJS Presentation</dc:subject>
  <dc:creator>PptxGenJS</dc:creator>
  <cp:lastModifiedBy>Nayelis Paola Castillo Rossi</cp:lastModifiedBy>
  <cp:revision>5</cp:revision>
  <dcterms:created xsi:type="dcterms:W3CDTF">2026-04-23T22:43:39Z</dcterms:created>
  <dcterms:modified xsi:type="dcterms:W3CDTF">2026-04-25T00:05:27Z</dcterms:modified>
</cp:coreProperties>
</file>